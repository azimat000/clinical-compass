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Титул" id="{376689a8-2194-4041-2ee0-1c59304040d0}">
          <p14:sldIdLst>
            <p14:sldId id="256"/>
          </p14:sldIdLst>
        </p14:section>
        <p14:section name="1. Идея" id="{00a47929-9ade-08bd-89e3-c277b837d33d}">
          <p14:sldIdLst>
            <p14:sldId id="257"/>
            <p14:sldId id="258"/>
            <p14:sldId id="259"/>
          </p14:sldIdLst>
        </p14:section>
        <p14:section name="2. Прототип" id="{fc6b09f8-6b42-097f-f347-07ae294377e0}">
          <p14:sldIdLst>
            <p14:sldId id="260"/>
            <p14:sldId id="261"/>
            <p14:sldId id="262"/>
            <p14:sldId id="263"/>
          </p14:sldIdLst>
        </p14:section>
        <p14:section name="3. Испытания" id="{2d4b855e-64d8-db61-889f-f5e8f2442f5f}">
          <p14:sldIdLst>
            <p14:sldId id="264"/>
            <p14:sldId id="265"/>
          </p14:sldIdLst>
        </p14:section>
        <p14:section name="4. Планы" id="{8f5b8f66-dabb-cc00-569d-97b31e7c0bbb}">
          <p14:sldIdLst>
            <p14:sldId id="266"/>
            <p14:sldId id="267"/>
            <p14:sldId id="268"/>
          </p14:sldIdLst>
        </p14:section>
        <p14:section name="5. Команда" id="{53487902-b478-bfbc-2892-9bcac43324a4}">
          <p14:sldIdLst>
            <p14:sldId id="269"/>
            <p14:sldId id="270"/>
          </p14:sldIdLst>
        </p14:section>
        <p14:section name="Финал" id="{28245ed2-fb02-ed40-2298-ef97fbbdfb6c}">
          <p14:sldIdLst>
            <p14:sldId id="271"/>
          </p14:sldIdLst>
        </p14:section>
        <p14:section name="Приложение" id="{bb3d92d0-48b2-0f9a-a055-766c69a76a31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3A40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23A40"/>
                </a:solidFill>
                <a:latin typeface="+mj-lt"/>
              </a:rPr>
              <a:t>Время ответа сервера, мс (40 запросов на страницу)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Медиана, мс</c:v>
                </c:pt>
              </c:strCache>
            </c:strRef>
          </c:tx>
          <c:spPr>
            <a:solidFill>
              <a:srgbClr val="1F6F6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25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Список пациентов</c:v>
                  </c:pt>
                  <c:pt idx="1">
                    <c:v>Сводка к приёму</c:v>
                  </c:pt>
                  <c:pt idx="2">
                    <c:v>План и препараты</c:v>
                  </c:pt>
                  <c:pt idx="3">
                    <c:v>Карточка пациента</c:v>
                  </c:pt>
                  <c:pt idx="4">
                    <c:v>Сообщения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8.7</c:v>
                </c:pt>
                <c:pt idx="1">
                  <c:v>4.7</c:v>
                </c:pt>
                <c:pt idx="2">
                  <c:v>8.9</c:v>
                </c:pt>
                <c:pt idx="3">
                  <c:v>15.5</c:v>
                </c:pt>
                <c:pt idx="4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95 % запросов быстрее, мс</c:v>
                </c:pt>
              </c:strCache>
            </c:strRef>
          </c:tx>
          <c:spPr>
            <a:solidFill>
              <a:srgbClr val="8FB9B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25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Список пациентов</c:v>
                  </c:pt>
                  <c:pt idx="1">
                    <c:v>Сводка к приёму</c:v>
                  </c:pt>
                  <c:pt idx="2">
                    <c:v>План и препараты</c:v>
                  </c:pt>
                  <c:pt idx="3">
                    <c:v>Карточка пациента</c:v>
                  </c:pt>
                  <c:pt idx="4">
                    <c:v>Сообщения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47.4</c:v>
                </c:pt>
                <c:pt idx="1">
                  <c:v>5.2</c:v>
                </c:pt>
                <c:pt idx="2">
                  <c:v>9.8</c:v>
                </c:pt>
                <c:pt idx="3">
                  <c:v>16.9</c:v>
                </c:pt>
                <c:pt idx="4">
                  <c:v>4.9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625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7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0"/>
        <c:axPos val="b"/>
        <c:majorGridlines>
          <c:spPr>
            <a:ln w="6350" cap="flat">
              <a:solidFill>
                <a:srgbClr val="E3EA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6252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3A40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23A40"/>
                </a:solidFill>
                <a:latin typeface="+mj-lt"/>
              </a:rPr>
              <a:t>Покрытие автотестами ключевых модулей,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Покрытие, %</c:v>
                </c:pt>
              </c:strCache>
            </c:strRef>
          </c:tx>
          <c:spPr>
            <a:solidFill>
              <a:srgbClr val="123A4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25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Препараты</c:v>
                  </c:pt>
                  <c:pt idx="1">
                    <c:v>Права и доступ</c:v>
                  </c:pt>
                  <c:pt idx="2">
                    <c:v>Повторное наблюдение</c:v>
                  </c:pt>
                  <c:pt idx="3">
                    <c:v>Записи пациента</c:v>
                  </c:pt>
                  <c:pt idx="4">
                    <c:v>Анкеты</c:v>
                  </c:pt>
                  <c:pt idx="5">
                    <c:v>Сообщения</c:v>
                  </c:pt>
                  <c:pt idx="6">
                    <c:v>Веб-слой</c:v>
                  </c:pt>
                  <c:pt idx="7">
                    <c:v>Решения врача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99</c:v>
                </c:pt>
                <c:pt idx="1">
                  <c:v>98</c:v>
                </c:pt>
                <c:pt idx="2">
                  <c:v>98</c:v>
                </c:pt>
                <c:pt idx="3">
                  <c:v>97</c:v>
                </c:pt>
                <c:pt idx="4">
                  <c:v>96</c:v>
                </c:pt>
                <c:pt idx="5">
                  <c:v>96</c:v>
                </c:pt>
                <c:pt idx="6">
                  <c:v>95</c:v>
                </c:pt>
                <c:pt idx="7">
                  <c:v>93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625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7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A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Добрый день. Психиатр видит пациента раз в несколько недель, а всё важное происходит между приёмами. «Клинический компас» показывает врачу эту часть жизни пациента: самочувствие, анкеты, приём препаратов. При этом решение всегда остаётся за врачом. Я Азамат Сибгатуллин, капитан и разработчик команды.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Психиатр видит пациента раз в несколько недель и узнаёт только то, что тот вспомнил. Пациент к приёму многое забывает и легко бросает лечение. Это не редкая история: по данным ВОЗ, психическими расстройствами страдает больше миллиарда человек, и большинство случаев приходится на тревогу и депрессию. Главное число справа: когда состояние регулярно измеряют между приёмами, ремиссия наступает намного чаще. Это мы и делаем удобным.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Решение простое: одна история пациента от приёма до приёма. Врач задаёт план, пациент дома отмечает самочувствие, анкеты и таблетки, перед следующим приёмом врач видит сводку и принимает решение. Три правила мы не нарушаем нигде: решает врач, у каждого факта есть источник, а неизвестное показано как неизвестное.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пациента пять разделов, и на каждом экране одно главное действие. У врача путь короткий: список тех, кого нужно проверить, карточка с графиками, сводка к приёму и план. Всё это одна база, поэтому врач и пациент видят одну и ту же запись, каждый в своём объёме.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работающий кабинет врача, не макет. Слева список пациентов: сверху те, у кого есть что проверить, и рядом конкретная причина, например пропуск в плане или записанное нежелательное явление. В центре сводка к приёму за выбранный период. Справа план и календарь приёма препаратов, где видно, в какой день пациент пропустил таблетку.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Пациент чаще всего работает с телефона. Поэтому главное действие видно сразу: отметить самочувствие или заполнить анкету, которую предложил врач. После отправки пациент видит, что запись сохранена на сервере. Баллы анкет пациенту не показываем: это материал для врача, а не самодиагностика.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Анкеты врач предлагает сам. В карточке три шкалы DASS-42 и отдельно PHQ-9 и GAD-7: последнее значение, график и изменение. Мы используем точные русские версии и ничего в них не меняем. Если анкета заполнена не полностью, точка на графике не появляется: пропуск не превращается в ноль.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Безопасность заложена в устройство сервиса. Пять видов клинических действий без подтверждения врача не срабатывают, причём проверка идёт на сервере, а не только в интерфейсе. Врач видит только своих пациентов. У каждой записи есть автор и время, исправления ничего не стирают. В демонстрации только вымышленные люди.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о том, как мы проверяли сервис. 53 этапа разработки, каждый принят с отчётом и проверкой. 588 автотестов, все проходят, и они покрывают 95 процентов кода веб-сервиса. Самая тяжёлая страница врача отвечает примерно за 16 миллисекунд. Отдельно мы проверяем перезапуск без потери данных, права доступа и работу на телефоне.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Скорость и покрытие мы измерили, а не оценили на глаз. Слева время ответа сервера для пяти главных страниц врача: медиана от четырёх до шестнадцати миллисекунд. Справа покрытие тестами ключевых модулей: доступ, препараты, анкеты, сообщения. Всё это проверено на полной вымышленной клинике: восемь пациентов, три врача, шесть недель истории.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Дальше двенадцать месяцев. В ноябре переносим сервер на Go и PostgreSQL. В декабре даём сервис трём-пяти психиатрам на тестовых историях и меряем удобство. В первом квартале добавляем модуль тревожных признаков, о нём следующий слайд. Затем пилот в клинике, документы для регистрации и подключение к медицинским системам.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Следующий большой шаг — система, которая сама замечает тревожные признаки. Она смотрит на анкеты, дневник, пропуски таблеток и сообщения, проверяет их по правилам из клинических рекомендаций и сразу сообщает врачу о серьёзном ухудшении или критическом состоянии. Сервис предложит варианты лечения и дальнейших действий со ссылками на источники, а выбирает и подтверждает врач. Для этого у нас уже есть фундамент: исходные ответы, происхождение каждой записи и подтверждение врачом.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Чтобы сервис работал с настоящими пациентами, нужны три вещи. Закон: данные о здоровье — особая категория по 152-ФЗ, врачебная тайна по 323-ФЗ, а программа, влияющая на лечение, может потребовать регистрации как медицинское изделие. Технологии: Go, PostgreSQL, хостинг в России. И клиника для пилота. От организаторов и партнёров мы просим площадку для пилота и экспертов для проверки правил.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Наша команда — пять человек. Я отвечаю за разработку: спроектировал и написал сервер, базу и оба кабинета. (Представить остальных участников и их роли.)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 организаторам чемпионата, компании Авинейро и партнёрам, Сеченовскому университету, нашим кураторам и трекеру. По QR-коду открывается демо-стенд сервиса.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Клинический компас: врач за минуту видит, что изменилось у пациента между приёмами, а решение всегда остаётся за врачом. Спасибо, готовы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для вопросов жюри о методике измерений.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для вопросов жюри об источниках.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2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131552" y="365760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Клинический компас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43737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Клинический компас · кейс-чемпионат Авинейро · 2026</a:t>
            </a:r>
            <a:endParaRPr lang="en-US" sz="9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548640" y="731520"/>
            <a:ext cx="941832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1908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B7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1908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B7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image" Target="../media/image-6-6.jpg"/><Relationship Id="rId7" Type="http://schemas.openxmlformats.org/officeDocument/2006/relationships/image" Target="../media/image-6-7.jp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6600" y="0"/>
            <a:ext cx="5105095" cy="6858000"/>
          </a:xfrm>
          <a:prstGeom prst="rect">
            <a:avLst/>
          </a:prstGeom>
          <a:solidFill>
            <a:srgbClr val="123A40"/>
          </a:solidFill>
          <a:ln w="12700">
            <a:solidFill>
              <a:srgbClr val="123A4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7498080" y="50292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92440" y="5669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B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ПАЦИЕНТА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8732520" y="1143000"/>
            <a:ext cx="2249424" cy="4697671"/>
          </a:xfrm>
          <a:prstGeom prst="roundRect">
            <a:avLst>
              <a:gd name="adj" fmla="val 6504"/>
            </a:avLst>
          </a:prstGeom>
          <a:solidFill>
            <a:srgbClr val="16252B"/>
          </a:solidFill>
          <a:ln w="12700">
            <a:solidFill>
              <a:srgbClr val="16252B"/>
            </a:solidFill>
            <a:prstDash val="solid"/>
          </a:ln>
          <a:effectLst>
            <a:outerShdw sx="100000" sy="100000" kx="0" ky="0" algn="bl" rotWithShape="0" blurRad="127000" dist="38100" dir="5400000">
              <a:srgbClr val="0B2226">
                <a:alpha val="16000"/>
              </a:srgbClr>
            </a:outerShdw>
          </a:effectLst>
        </p:spPr>
      </p:sp>
      <p:pic>
        <p:nvPicPr>
          <p:cNvPr id="6" name="Image 1" descr="/Users/azamatsibgatullin/Documents/HAC/deliverables/presentation/assets/patient-toda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2" y="1216152"/>
            <a:ext cx="2103120" cy="4551367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98080" y="1417320"/>
            <a:ext cx="347472" cy="347472"/>
          </a:xfrm>
          <a:prstGeom prst="ellipse">
            <a:avLst/>
          </a:prstGeom>
          <a:solidFill>
            <a:srgbClr val="1B4A51"/>
          </a:solidFill>
          <a:ln w="12700">
            <a:solidFill>
              <a:srgbClr val="1B4A5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498080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498080" y="181965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Приём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498080" y="207568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B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врач задаёт план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7498080" y="2496312"/>
            <a:ext cx="347472" cy="347472"/>
          </a:xfrm>
          <a:prstGeom prst="ellipse">
            <a:avLst/>
          </a:prstGeom>
          <a:solidFill>
            <a:srgbClr val="1B4A51"/>
          </a:solidFill>
          <a:ln w="12700">
            <a:solidFill>
              <a:srgbClr val="1B4A5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498080" y="24963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498080" y="28986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Дома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498080" y="315468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B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дневник, анкеты, таблетки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7498080" y="3575304"/>
            <a:ext cx="347472" cy="347472"/>
          </a:xfrm>
          <a:prstGeom prst="ellipse">
            <a:avLst/>
          </a:prstGeom>
          <a:solidFill>
            <a:srgbClr val="1B4A51"/>
          </a:solidFill>
          <a:ln w="12700">
            <a:solidFill>
              <a:srgbClr val="1B4A5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498080" y="3575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749808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Сводка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498080" y="423367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B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изменения за период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7498080" y="4654296"/>
            <a:ext cx="347472" cy="3474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498080" y="46542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7498080" y="505663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Решение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7498080" y="531266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B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подтверждает врач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548640" y="384048"/>
            <a:ext cx="4787798" cy="256032"/>
          </a:xfrm>
          <a:prstGeom prst="roundRect">
            <a:avLst>
              <a:gd name="adj" fmla="val 50000"/>
            </a:avLst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84048"/>
            <a:ext cx="47877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КЕЙС-ЧЕМПИОНАТ АВИНЕЙРО · ПРЕДЗАЩИТА И ДЕМО-ДЕНЬ</a:t>
            </a:r>
            <a:endParaRPr lang="en-US" sz="90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51560"/>
            <a:ext cx="658368" cy="65836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1371600" y="987552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Клинический компас</a:t>
            </a:r>
            <a:endParaRPr lang="en-US" sz="4000" dirty="0"/>
          </a:p>
        </p:txBody>
      </p:sp>
      <p:sp>
        <p:nvSpPr>
          <p:cNvPr id="27" name="Text 22"/>
          <p:cNvSpPr txBox="1"/>
          <p:nvPr/>
        </p:nvSpPr>
        <p:spPr>
          <a:xfrm>
            <a:off x="548640" y="201168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F6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Врач видит, как пациент живёт между приёмами</a:t>
            </a:r>
            <a:endParaRPr lang="en-US" sz="240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30175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Веб-сервис для психиатра и пациента с тревогой и депрессией: дневник самочувствия, анкеты DASS-42, PHQ-9 и GAD-7, календарь препаратов и план лечения, который подтверждает врач</a:t>
            </a:r>
            <a:endParaRPr lang="en-US" sz="1500" dirty="0"/>
          </a:p>
        </p:txBody>
      </p:sp>
      <p:sp>
        <p:nvSpPr>
          <p:cNvPr id="29" name="Shape 24"/>
          <p:cNvSpPr/>
          <p:nvPr/>
        </p:nvSpPr>
        <p:spPr>
          <a:xfrm>
            <a:off x="548640" y="4160520"/>
            <a:ext cx="6172200" cy="713232"/>
          </a:xfrm>
          <a:prstGeom prst="roundRect">
            <a:avLst>
              <a:gd name="adj" fmla="val 10256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31520" y="4206240"/>
            <a:ext cx="5852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 </a:t>
            </a:r>
            <a:pPr indent="0" marL="0"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«Клинический компас: инновационные решения для диагностики и ведения пациентов с тревогой и депрессией»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548640" y="5166360"/>
            <a:ext cx="566928" cy="566928"/>
          </a:xfrm>
          <a:prstGeom prst="ellipse">
            <a:avLst/>
          </a:prstGeom>
          <a:solidFill>
            <a:srgbClr val="123A40"/>
          </a:solidFill>
          <a:ln w="12700">
            <a:solidFill>
              <a:srgbClr val="123A40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48640" y="5166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АС</a:t>
            </a:r>
            <a:endParaRPr lang="en-US" sz="1500" dirty="0"/>
          </a:p>
        </p:txBody>
      </p:sp>
      <p:sp>
        <p:nvSpPr>
          <p:cNvPr id="33" name="Text 28"/>
          <p:cNvSpPr txBox="1"/>
          <p:nvPr/>
        </p:nvSpPr>
        <p:spPr>
          <a:xfrm>
            <a:off x="1261872" y="51755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Азамат Сибгатуллин</a:t>
            </a:r>
            <a:endParaRPr 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1261872" y="5458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капитан команды, разработчик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4069080" y="5166360"/>
            <a:ext cx="566928" cy="566928"/>
          </a:xfrm>
          <a:prstGeom prst="ellipse">
            <a:avLst/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4069080" y="5166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6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</a:t>
            </a:r>
            <a:endParaRPr lang="en-US" sz="1500" dirty="0"/>
          </a:p>
        </p:txBody>
      </p:sp>
      <p:sp>
        <p:nvSpPr>
          <p:cNvPr id="37" name="Text 32"/>
          <p:cNvSpPr txBox="1"/>
          <p:nvPr/>
        </p:nvSpPr>
        <p:spPr>
          <a:xfrm>
            <a:off x="4782312" y="517550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участника команды</a:t>
            </a:r>
            <a:endParaRPr lang="en-US" sz="1400" dirty="0"/>
          </a:p>
        </p:txBody>
      </p:sp>
      <p:sp>
        <p:nvSpPr>
          <p:cNvPr id="38" name="Text 33"/>
          <p:cNvSpPr txBox="1"/>
          <p:nvPr/>
        </p:nvSpPr>
        <p:spPr>
          <a:xfrm>
            <a:off x="4782312" y="54589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на слайде «Команда»</a:t>
            </a:r>
            <a:endParaRPr lang="en-US" sz="1100" dirty="0"/>
          </a:p>
        </p:txBody>
      </p:sp>
      <p:sp>
        <p:nvSpPr>
          <p:cNvPr id="39" name="Text 34"/>
          <p:cNvSpPr txBox="1"/>
          <p:nvPr/>
        </p:nvSpPr>
        <p:spPr>
          <a:xfrm>
            <a:off x="548640" y="6263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Октябрь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57046" cy="256032"/>
          </a:xfrm>
          <a:prstGeom prst="roundRect">
            <a:avLst>
              <a:gd name="adj" fmla="val 50000"/>
            </a:avLst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0570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9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548640" y="73152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Между приёмами врач не видит, как живёт пациент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431536" cy="2743200"/>
          </a:xfrm>
          <a:prstGeom prst="roundRect">
            <a:avLst>
              <a:gd name="adj" fmla="val 2667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783080"/>
            <a:ext cx="512064" cy="512064"/>
          </a:xfrm>
          <a:prstGeom prst="ellipse">
            <a:avLst/>
          </a:prstGeom>
          <a:solidFill>
            <a:srgbClr val="1F6F68"/>
          </a:solidFill>
          <a:ln w="12700">
            <a:solidFill>
              <a:srgbClr val="1F6F6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1921337"/>
            <a:ext cx="235549" cy="23554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1783080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Психиатр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5146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6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325880" y="2514600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приёме узнаёт только то, что пациент вспомнил и успел рассказать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08152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6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081528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Ухудшение, побочные эффекты и пропуски таблеток всплывают с опозданием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64845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6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325880" y="3648456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Анкеты на бумаге: динамику приходится сводить вручную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08776" y="1572768"/>
            <a:ext cx="5431536" cy="2743200"/>
          </a:xfrm>
          <a:prstGeom prst="roundRect">
            <a:avLst>
              <a:gd name="adj" fmla="val 2667"/>
            </a:avLst>
          </a:prstGeom>
          <a:solidFill>
            <a:srgbClr val="FBEBD9"/>
          </a:solidFill>
          <a:ln w="12700">
            <a:solidFill>
              <a:srgbClr val="FBEBD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83096" y="1783080"/>
            <a:ext cx="512064" cy="512064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353" y="1921337"/>
            <a:ext cx="235549" cy="23554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123176" y="1783080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Пациент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528816" y="25146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A5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6986016" y="2514600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две недели не помнит, как спал и что чувствовал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528816" y="308152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A5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6986016" y="3081528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Бросает лечение, когда не видит эффекта или боится побочных действий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528816" y="364845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A5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6986016" y="3648456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знает, можно ли написать врачу и дошло ли сообщение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455371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1 млрд</a:t>
            </a:r>
            <a:endParaRPr lang="en-US" sz="2800" dirty="0"/>
          </a:p>
        </p:txBody>
      </p:sp>
      <p:sp>
        <p:nvSpPr>
          <p:cNvPr id="26" name="Text 22"/>
          <p:cNvSpPr txBox="1"/>
          <p:nvPr/>
        </p:nvSpPr>
        <p:spPr>
          <a:xfrm>
            <a:off x="548640" y="512064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людей в мире живут с психическими расстройствами; тревога и депрессия — больше двух третей случаев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48640" y="57332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ВОЗ, 2025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4297680" y="455371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15 % и 14 %</a:t>
            </a:r>
            <a:endParaRPr lang="en-US" sz="2800" dirty="0"/>
          </a:p>
        </p:txBody>
      </p:sp>
      <p:sp>
        <p:nvSpPr>
          <p:cNvPr id="29" name="Text 25"/>
          <p:cNvSpPr txBox="1"/>
          <p:nvPr/>
        </p:nvSpPr>
        <p:spPr>
          <a:xfrm>
            <a:off x="4297680" y="512064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жителей Москвы с признаками тревоги и депрессии по скринингу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4297680" y="57332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Consortium Psychiatricum, 2024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8046720" y="455371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6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73,8 % vs 28,8 %</a:t>
            </a:r>
            <a:endParaRPr lang="en-US" sz="2800" dirty="0"/>
          </a:p>
        </p:txBody>
      </p:sp>
      <p:sp>
        <p:nvSpPr>
          <p:cNvPr id="32" name="Text 28"/>
          <p:cNvSpPr txBox="1"/>
          <p:nvPr/>
        </p:nvSpPr>
        <p:spPr>
          <a:xfrm>
            <a:off x="8046720" y="512064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ремиссия при регулярных замерах между приёмами против обычного ведения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8046720" y="57332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Guo et al., Am J Psychiatry, 2015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1908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B7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63778" cy="256032"/>
          </a:xfrm>
          <a:prstGeom prst="roundRect">
            <a:avLst>
              <a:gd name="adj" fmla="val 50000"/>
            </a:avLst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9637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9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548640" y="73152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 история пациента от приёма до приёма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783080" y="2148840"/>
            <a:ext cx="2926080" cy="2926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3DEDB"/>
            </a:solidFill>
            <a:prstDash val="dash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3108960"/>
            <a:ext cx="1005840" cy="1005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916936" y="1819656"/>
            <a:ext cx="658368" cy="658368"/>
          </a:xfrm>
          <a:prstGeom prst="ellipse">
            <a:avLst/>
          </a:prstGeom>
          <a:solidFill>
            <a:srgbClr val="1F6F68"/>
          </a:solidFill>
          <a:ln w="12700">
            <a:solidFill>
              <a:srgbClr val="1F6F68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4695" y="1997415"/>
            <a:ext cx="302849" cy="30284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694176" y="18013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Приём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3694176" y="207568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врач фиксирует план и назначения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379976" y="3282696"/>
            <a:ext cx="658368" cy="658368"/>
          </a:xfrm>
          <a:prstGeom prst="ellipse">
            <a:avLst/>
          </a:prstGeom>
          <a:solidFill>
            <a:srgbClr val="1F6F68"/>
          </a:solidFill>
          <a:ln w="12700">
            <a:solidFill>
              <a:srgbClr val="1F6F68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7735" y="3460455"/>
            <a:ext cx="302849" cy="30284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703320" y="40325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Дома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3703320" y="430682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дневник, анкеты и отметки о таблетках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2916936" y="4745736"/>
            <a:ext cx="658368" cy="658368"/>
          </a:xfrm>
          <a:prstGeom prst="ellipse">
            <a:avLst/>
          </a:prstGeom>
          <a:solidFill>
            <a:srgbClr val="1F6F68"/>
          </a:solidFill>
          <a:ln w="12700">
            <a:solidFill>
              <a:srgbClr val="1F6F68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4695" y="4923495"/>
            <a:ext cx="302849" cy="302849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694176" y="47274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Сводка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3694176" y="500176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 приёмом врач видит изменения за период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1453896" y="3282696"/>
            <a:ext cx="658368" cy="65836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1655" y="3460455"/>
            <a:ext cx="302849" cy="302849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77240" y="40325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Решение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777240" y="430682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врач подтверждает, пациент сразу видит план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537960" y="1627632"/>
            <a:ext cx="5102352" cy="1298448"/>
          </a:xfrm>
          <a:prstGeom prst="roundRect">
            <a:avLst>
              <a:gd name="adj" fmla="val 5634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766560" y="1874520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4817" y="2012777"/>
            <a:ext cx="235549" cy="235549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452360" y="18105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Решает врач</a:t>
            </a:r>
            <a:endParaRPr lang="en-US" sz="1500" dirty="0"/>
          </a:p>
        </p:txBody>
      </p:sp>
      <p:sp>
        <p:nvSpPr>
          <p:cNvPr id="27" name="Text 19"/>
          <p:cNvSpPr txBox="1"/>
          <p:nvPr/>
        </p:nvSpPr>
        <p:spPr>
          <a:xfrm>
            <a:off x="7452360" y="2130552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Сервис ничего не назначает сам. Назначение, изменение и отмена терапии, направление и новый план действуют только после подтверждения врача.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6537960" y="3090672"/>
            <a:ext cx="5102352" cy="1298448"/>
          </a:xfrm>
          <a:prstGeom prst="roundRect">
            <a:avLst>
              <a:gd name="adj" fmla="val 5634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766560" y="3337560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4817" y="3475817"/>
            <a:ext cx="235549" cy="235549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7452360" y="32735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 каждого факта есть источник</a:t>
            </a:r>
            <a:endParaRPr lang="en-US" sz="1500" dirty="0"/>
          </a:p>
        </p:txBody>
      </p:sp>
      <p:sp>
        <p:nvSpPr>
          <p:cNvPr id="32" name="Text 23"/>
          <p:cNvSpPr txBox="1"/>
          <p:nvPr/>
        </p:nvSpPr>
        <p:spPr>
          <a:xfrm>
            <a:off x="7452360" y="3593592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записал, когда и что именно. Из сводки один щелчок до исходной записи пациента.</a:t>
            </a:r>
            <a:endParaRPr lang="en-US" sz="1200" dirty="0"/>
          </a:p>
        </p:txBody>
      </p:sp>
      <p:sp>
        <p:nvSpPr>
          <p:cNvPr id="33" name="Shape 24"/>
          <p:cNvSpPr/>
          <p:nvPr/>
        </p:nvSpPr>
        <p:spPr>
          <a:xfrm>
            <a:off x="6537960" y="4553712"/>
            <a:ext cx="5102352" cy="1298448"/>
          </a:xfrm>
          <a:prstGeom prst="roundRect">
            <a:avLst>
              <a:gd name="adj" fmla="val 5634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6766560" y="4800600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04817" y="4938857"/>
            <a:ext cx="235549" cy="235549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452360" y="473659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Неизвестное видно</a:t>
            </a:r>
            <a:endParaRPr lang="en-US" sz="1500" dirty="0"/>
          </a:p>
        </p:txBody>
      </p:sp>
      <p:sp>
        <p:nvSpPr>
          <p:cNvPr id="37" name="Text 27"/>
          <p:cNvSpPr txBox="1"/>
          <p:nvPr/>
        </p:nvSpPr>
        <p:spPr>
          <a:xfrm>
            <a:off x="7452360" y="5056632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Пропуск таблетки и отсутствие отметки показаны по-разному. Пустое поле не выдаётся за «всё хорошо».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1908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B7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03197" cy="256032"/>
          </a:xfrm>
          <a:prstGeom prst="roundRect">
            <a:avLst>
              <a:gd name="adj" fmla="val 50000"/>
            </a:avLst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031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ЭТО РАБОТАЕТ</a:t>
            </a:r>
            <a:endParaRPr lang="en-US" sz="9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548640" y="73152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кабинета на одной базе: дома у пациента и у врача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640080" cy="64008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462" y="2275942"/>
            <a:ext cx="294437" cy="29443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65760" y="27889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Пациент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600200" y="169164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BEBD9"/>
          </a:solidFill>
          <a:ln w="12700">
            <a:solidFill>
              <a:srgbClr val="FBEB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83080" y="1892808"/>
            <a:ext cx="365760" cy="36576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783080" y="1892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2258568" y="18928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Сегодня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783080" y="2404872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Главное действие дня, текущий план и таблетки на сегодня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142232" y="169164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BEBD9"/>
          </a:solidFill>
          <a:ln w="12700">
            <a:solidFill>
              <a:srgbClr val="FBEB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25112" y="1892808"/>
            <a:ext cx="365760" cy="36576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25112" y="1892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800600" y="18928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Дневник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325112" y="2404872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Самочувствие, жалобы, нежелательные явления. Черновик не теряется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684264" y="169164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BEBD9"/>
          </a:solidFill>
          <a:ln w="12700">
            <a:solidFill>
              <a:srgbClr val="FBEB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67144" y="1892808"/>
            <a:ext cx="365760" cy="36576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67144" y="1892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7342632" y="18928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Анкеты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867144" y="2404872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DASS-42, PHQ-9 или GAD-7 по предложению врача, квитанция об отправке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9226296" y="169164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BEBD9"/>
          </a:solidFill>
          <a:ln w="12700">
            <a:solidFill>
              <a:srgbClr val="FBEBD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409176" y="1892808"/>
            <a:ext cx="365760" cy="36576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409176" y="1892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9884664" y="18928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Препараты и связь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409176" y="2404872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Отметка каждого приёма, даже половины таблетки. Сообщения врачу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48640" y="4069080"/>
            <a:ext cx="640080" cy="640080"/>
          </a:xfrm>
          <a:prstGeom prst="ellipse">
            <a:avLst/>
          </a:prstGeom>
          <a:solidFill>
            <a:srgbClr val="1F6F68"/>
          </a:solidFill>
          <a:ln w="12700">
            <a:solidFill>
              <a:srgbClr val="1F6F68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62" y="4241902"/>
            <a:ext cx="294437" cy="294437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365760" y="47548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Врач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600200" y="365760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783080" y="3858768"/>
            <a:ext cx="365760" cy="365760"/>
          </a:xfrm>
          <a:prstGeom prst="ellipse">
            <a:avLst/>
          </a:prstGeom>
          <a:solidFill>
            <a:srgbClr val="1F6F68"/>
          </a:solidFill>
          <a:ln w="12700">
            <a:solidFill>
              <a:srgbClr val="1F6F68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783080" y="3858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2258568" y="38587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Пациенты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1783080" y="4370832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«Нужно проверить» с конкретной причиной и ссылкой на запись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4142232" y="365760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325112" y="3858768"/>
            <a:ext cx="365760" cy="365760"/>
          </a:xfrm>
          <a:prstGeom prst="ellipse">
            <a:avLst/>
          </a:prstGeom>
          <a:solidFill>
            <a:srgbClr val="1F6F68"/>
          </a:solidFill>
          <a:ln w="12700">
            <a:solidFill>
              <a:srgbClr val="1F6F68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325112" y="3858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9" name="Text 35"/>
          <p:cNvSpPr txBox="1"/>
          <p:nvPr/>
        </p:nvSpPr>
        <p:spPr>
          <a:xfrm>
            <a:off x="4800600" y="38587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Карточка</a:t>
            </a:r>
            <a:endParaRPr lang="en-US" sz="1300" dirty="0"/>
          </a:p>
        </p:txBody>
      </p:sp>
      <p:sp>
        <p:nvSpPr>
          <p:cNvPr id="40" name="Text 36"/>
          <p:cNvSpPr txBox="1"/>
          <p:nvPr/>
        </p:nvSpPr>
        <p:spPr>
          <a:xfrm>
            <a:off x="4325112" y="4370832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анкет, исходные ответы, история записей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6684264" y="365760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867144" y="3858768"/>
            <a:ext cx="365760" cy="365760"/>
          </a:xfrm>
          <a:prstGeom prst="ellipse">
            <a:avLst/>
          </a:prstGeom>
          <a:solidFill>
            <a:srgbClr val="1F6F68"/>
          </a:solidFill>
          <a:ln w="12700">
            <a:solidFill>
              <a:srgbClr val="1F6F68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867144" y="3858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7342632" y="38587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Сводка к приёму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6867144" y="4370832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за выбранный период на одном экране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9226296" y="365760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9409176" y="3858768"/>
            <a:ext cx="365760" cy="365760"/>
          </a:xfrm>
          <a:prstGeom prst="ellipse">
            <a:avLst/>
          </a:prstGeom>
          <a:solidFill>
            <a:srgbClr val="1F6F68"/>
          </a:solidFill>
          <a:ln w="12700">
            <a:solidFill>
              <a:srgbClr val="1F6F68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9409176" y="3858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45"/>
          <p:cNvSpPr txBox="1"/>
          <p:nvPr/>
        </p:nvSpPr>
        <p:spPr>
          <a:xfrm>
            <a:off x="9884664" y="38587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и решения</a:t>
            </a:r>
            <a:endParaRPr lang="en-US" sz="1300" dirty="0"/>
          </a:p>
        </p:txBody>
      </p:sp>
      <p:sp>
        <p:nvSpPr>
          <p:cNvPr id="50" name="Text 46"/>
          <p:cNvSpPr txBox="1"/>
          <p:nvPr/>
        </p:nvSpPr>
        <p:spPr>
          <a:xfrm>
            <a:off x="9409176" y="4370832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Назначения и курс действуют после подтверждения врача</a:t>
            </a:r>
            <a:endParaRPr lang="en-US" sz="1300" dirty="0"/>
          </a:p>
        </p:txBody>
      </p:sp>
      <p:sp>
        <p:nvSpPr>
          <p:cNvPr id="51" name="Text 47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и компьютер полноценны для обеих ролей: экраны проверены на ширине от 320 до 1440 пикселей.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1908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B7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09928" cy="256032"/>
          </a:xfrm>
          <a:prstGeom prst="roundRect">
            <a:avLst>
              <a:gd name="adj" fmla="val 50000"/>
            </a:avLst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ПРОТОТИП · ВРАЧ</a:t>
            </a:r>
            <a:endParaRPr lang="en-US" sz="9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548640" y="73152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Врач сразу видит, кому нужно внимание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6400800" cy="40005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EDB"/>
            </a:solidFill>
            <a:prstDash val="solid"/>
          </a:ln>
          <a:effectLst>
            <a:outerShdw sx="100000" sy="100000" kx="0" ky="0" algn="bl" rotWithShape="0" blurRad="127000" dist="38100" dir="5400000">
              <a:srgbClr val="0B2226">
                <a:alpha val="16000"/>
              </a:srgbClr>
            </a:outerShdw>
          </a:effectLst>
        </p:spPr>
      </p:sp>
      <p:pic>
        <p:nvPicPr>
          <p:cNvPr id="6" name="Image 0" descr="/Users/azamatsibgatullin/Documents/HAC/deliverables/presentation/assets/doctor-patie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00200"/>
            <a:ext cx="6345936" cy="39456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7104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Пациенты  </a:t>
            </a:r>
            <a:pPr indent="0" marL="0"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с причинами для проверки и последними отметками самочувствия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269480" y="1572768"/>
            <a:ext cx="2606040" cy="1628775"/>
          </a:xfrm>
          <a:prstGeom prst="rect">
            <a:avLst/>
          </a:prstGeom>
          <a:solidFill>
            <a:srgbClr val="FFFFFF"/>
          </a:solidFill>
          <a:ln w="9525">
            <a:solidFill>
              <a:srgbClr val="D3DEDB"/>
            </a:solidFill>
            <a:prstDash val="solid"/>
          </a:ln>
          <a:effectLst>
            <a:outerShdw sx="100000" sy="100000" kx="0" ky="0" algn="bl" rotWithShape="0" blurRad="127000" dist="38100" dir="5400000">
              <a:srgbClr val="0B2226">
                <a:alpha val="16000"/>
              </a:srgbClr>
            </a:outerShdw>
          </a:effectLst>
        </p:spPr>
      </p:sp>
      <p:pic>
        <p:nvPicPr>
          <p:cNvPr id="9" name="Image 1" descr="/Users/azamatsibgatullin/Documents/HAC/deliverables/presentation/assets/doctor-follow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912" y="1600200"/>
            <a:ext cx="2551176" cy="157391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058400" y="157276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Сводка к приёму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0058400" y="2139696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Записи за выбранный период; у каждой автор, время и неизвестные поля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269480" y="3694176"/>
            <a:ext cx="2606040" cy="1628775"/>
          </a:xfrm>
          <a:prstGeom prst="rect">
            <a:avLst/>
          </a:prstGeom>
          <a:solidFill>
            <a:srgbClr val="FFFFFF"/>
          </a:solidFill>
          <a:ln w="9525">
            <a:solidFill>
              <a:srgbClr val="D3DEDB"/>
            </a:solidFill>
            <a:prstDash val="solid"/>
          </a:ln>
          <a:effectLst>
            <a:outerShdw sx="100000" sy="100000" kx="0" ky="0" algn="bl" rotWithShape="0" blurRad="127000" dist="38100" dir="5400000">
              <a:srgbClr val="0B2226">
                <a:alpha val="16000"/>
              </a:srgbClr>
            </a:outerShdw>
          </a:effectLst>
        </p:spPr>
      </p:sp>
      <p:pic>
        <p:nvPicPr>
          <p:cNvPr id="13" name="Image 2" descr="/Users/azamatsibgatullin/Documents/HAC/deliverables/presentation/assets/doctor-pla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912" y="3721608"/>
            <a:ext cx="2551176" cy="157391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058400" y="369417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и решения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0058400" y="4261104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Текущий план с подтверждением врача и недельный календарь препаратов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Снимки работающего сервиса от 23.10.2026. Все пациенты, врачи и препараты в демонстрации вымышленные.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1908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B7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989734" cy="256032"/>
          </a:xfrm>
          <a:prstGeom prst="roundRect">
            <a:avLst>
              <a:gd name="adj" fmla="val 50000"/>
            </a:avLst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9897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ПРОТОТИП · ПАЦИЕНТ</a:t>
            </a:r>
            <a:endParaRPr lang="en-US" sz="9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548640" y="73152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Пациенту достаточно телефона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12064" cy="512064"/>
          </a:xfrm>
          <a:prstGeom prst="ellipse">
            <a:avLst/>
          </a:prstGeom>
          <a:solidFill>
            <a:srgbClr val="FBEBD9"/>
          </a:solidFill>
          <a:ln w="12700">
            <a:solidFill>
              <a:srgbClr val="FBEBD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897" y="1829897"/>
            <a:ext cx="235549" cy="2355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16733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Одно главное действие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98424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каждом экране сразу видно, что сделать сейчас, без прокрутки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3063240"/>
            <a:ext cx="512064" cy="512064"/>
          </a:xfrm>
          <a:prstGeom prst="ellipse">
            <a:avLst/>
          </a:prstGeom>
          <a:solidFill>
            <a:srgbClr val="FBEBD9"/>
          </a:solidFill>
          <a:ln w="12700">
            <a:solidFill>
              <a:srgbClr val="FBEBD9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97" y="3201497"/>
            <a:ext cx="235549" cy="23554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30449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Запись дошла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234440" y="335584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Пациент видит время сохранения на сервере и квитанцию об анкете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434840"/>
            <a:ext cx="512064" cy="512064"/>
          </a:xfrm>
          <a:prstGeom prst="ellipse">
            <a:avLst/>
          </a:prstGeom>
          <a:solidFill>
            <a:srgbClr val="FBEBD9"/>
          </a:solidFill>
          <a:ln w="12700">
            <a:solidFill>
              <a:srgbClr val="FBEBD9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897" y="4573097"/>
            <a:ext cx="235549" cy="23554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34440" y="44165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Баллы видит врач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1234440" y="472744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Пациент получает квитанцию, а суммы и графики анкет остаются у врача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886200" y="1554480"/>
            <a:ext cx="1847088" cy="3826975"/>
          </a:xfrm>
          <a:prstGeom prst="roundRect">
            <a:avLst>
              <a:gd name="adj" fmla="val 7921"/>
            </a:avLst>
          </a:prstGeom>
          <a:solidFill>
            <a:srgbClr val="16252B"/>
          </a:solidFill>
          <a:ln w="12700">
            <a:solidFill>
              <a:srgbClr val="16252B"/>
            </a:solidFill>
            <a:prstDash val="solid"/>
          </a:ln>
          <a:effectLst>
            <a:outerShdw sx="100000" sy="100000" kx="0" ky="0" algn="bl" rotWithShape="0" blurRad="127000" dist="38100" dir="5400000">
              <a:srgbClr val="0B2226">
                <a:alpha val="16000"/>
              </a:srgbClr>
            </a:outerShdw>
          </a:effectLst>
        </p:spPr>
      </p:sp>
      <p:pic>
        <p:nvPicPr>
          <p:cNvPr id="18" name="Image 3" descr="/Users/azamatsibgatullin/Documents/HAC/deliverables/presentation/assets/patient-today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9352" y="1627632"/>
            <a:ext cx="1700784" cy="368067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886200" y="5472895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Сегодня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852160" y="1554480"/>
            <a:ext cx="1847088" cy="3826975"/>
          </a:xfrm>
          <a:prstGeom prst="roundRect">
            <a:avLst>
              <a:gd name="adj" fmla="val 7921"/>
            </a:avLst>
          </a:prstGeom>
          <a:solidFill>
            <a:srgbClr val="16252B"/>
          </a:solidFill>
          <a:ln w="12700">
            <a:solidFill>
              <a:srgbClr val="16252B"/>
            </a:solidFill>
            <a:prstDash val="solid"/>
          </a:ln>
          <a:effectLst>
            <a:outerShdw sx="100000" sy="100000" kx="0" ky="0" algn="bl" rotWithShape="0" blurRad="127000" dist="38100" dir="5400000">
              <a:srgbClr val="0B2226">
                <a:alpha val="16000"/>
              </a:srgbClr>
            </a:outerShdw>
          </a:effectLst>
        </p:spPr>
      </p:sp>
      <p:pic>
        <p:nvPicPr>
          <p:cNvPr id="21" name="Image 4" descr="/Users/azamatsibgatullin/Documents/HAC/deliverables/presentation/assets/patient-diary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1627632"/>
            <a:ext cx="1700784" cy="3680671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852160" y="5472895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Дневник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7818120" y="1554480"/>
            <a:ext cx="1847088" cy="3826975"/>
          </a:xfrm>
          <a:prstGeom prst="roundRect">
            <a:avLst>
              <a:gd name="adj" fmla="val 7921"/>
            </a:avLst>
          </a:prstGeom>
          <a:solidFill>
            <a:srgbClr val="16252B"/>
          </a:solidFill>
          <a:ln w="12700">
            <a:solidFill>
              <a:srgbClr val="16252B"/>
            </a:solidFill>
            <a:prstDash val="solid"/>
          </a:ln>
          <a:effectLst>
            <a:outerShdw sx="100000" sy="100000" kx="0" ky="0" algn="bl" rotWithShape="0" blurRad="127000" dist="38100" dir="5400000">
              <a:srgbClr val="0B2226">
                <a:alpha val="16000"/>
              </a:srgbClr>
            </a:outerShdw>
          </a:effectLst>
        </p:spPr>
      </p:sp>
      <p:pic>
        <p:nvPicPr>
          <p:cNvPr id="24" name="Image 5" descr="/Users/azamatsibgatullin/Documents/HAC/deliverables/presentation/assets/patient-forms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1272" y="1627632"/>
            <a:ext cx="1700784" cy="3680671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818120" y="5472895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Анкеты</a:t>
            </a:r>
            <a:endParaRPr lang="en-US" sz="1200" dirty="0"/>
          </a:p>
        </p:txBody>
      </p:sp>
      <p:sp>
        <p:nvSpPr>
          <p:cNvPr id="26" name="Shape 18"/>
          <p:cNvSpPr/>
          <p:nvPr/>
        </p:nvSpPr>
        <p:spPr>
          <a:xfrm>
            <a:off x="9784080" y="1554480"/>
            <a:ext cx="1847088" cy="3826975"/>
          </a:xfrm>
          <a:prstGeom prst="roundRect">
            <a:avLst>
              <a:gd name="adj" fmla="val 7921"/>
            </a:avLst>
          </a:prstGeom>
          <a:solidFill>
            <a:srgbClr val="16252B"/>
          </a:solidFill>
          <a:ln w="12700">
            <a:solidFill>
              <a:srgbClr val="16252B"/>
            </a:solidFill>
            <a:prstDash val="solid"/>
          </a:ln>
          <a:effectLst>
            <a:outerShdw sx="100000" sy="100000" kx="0" ky="0" algn="bl" rotWithShape="0" blurRad="127000" dist="38100" dir="5400000">
              <a:srgbClr val="0B2226">
                <a:alpha val="16000"/>
              </a:srgbClr>
            </a:outerShdw>
          </a:effectLst>
        </p:spPr>
      </p:sp>
      <p:pic>
        <p:nvPicPr>
          <p:cNvPr id="27" name="Image 6" descr="/Users/azamatsibgatullin/Documents/HAC/deliverables/presentation/assets/patient-plan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7232" y="1627632"/>
            <a:ext cx="1700784" cy="3680671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9784080" y="5472895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1908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B7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6466" cy="256032"/>
          </a:xfrm>
          <a:prstGeom prst="roundRect">
            <a:avLst>
              <a:gd name="adj" fmla="val 50000"/>
            </a:avLst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64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ПРОТОТИП · АНКЕТЫ</a:t>
            </a:r>
            <a:endParaRPr lang="en-US" sz="9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548640" y="73152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Динамика анкет видна сразу, ответы под рукой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91672" cy="3488331"/>
          </a:xfrm>
          <a:prstGeom prst="rect">
            <a:avLst/>
          </a:prstGeom>
          <a:solidFill>
            <a:srgbClr val="FFFFFF"/>
          </a:solidFill>
          <a:ln w="9525">
            <a:solidFill>
              <a:srgbClr val="D3DEDB"/>
            </a:solidFill>
            <a:prstDash val="solid"/>
          </a:ln>
          <a:effectLst>
            <a:outerShdw sx="100000" sy="100000" kx="0" ky="0" algn="bl" rotWithShape="0" blurRad="127000" dist="38100" dir="5400000">
              <a:srgbClr val="0B2226">
                <a:alpha val="16000"/>
              </a:srgbClr>
            </a:outerShdw>
          </a:effectLst>
        </p:spPr>
      </p:sp>
      <p:pic>
        <p:nvPicPr>
          <p:cNvPr id="6" name="Image 0" descr="/Users/azamatsibgatullin/Documents/HAC/deliverables/presentation/assets/doctor-char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81912"/>
            <a:ext cx="11036808" cy="343346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5303520"/>
            <a:ext cx="457200" cy="457200"/>
          </a:xfrm>
          <a:prstGeom prst="ellipse">
            <a:avLst/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" y="5426964"/>
            <a:ext cx="210312" cy="2103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53035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Точные русские версии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559612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DASS-42 (Фаттахов, Горобец), PHQ-9 и GAD-7 (Золотарева, 2023). Текст, порядок и варианты ответов не меняются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297680" y="5303520"/>
            <a:ext cx="457200" cy="457200"/>
          </a:xfrm>
          <a:prstGeom prst="ellipse">
            <a:avLst/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1124" y="5426964"/>
            <a:ext cx="210312" cy="21031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892040" y="53035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Пропуск не равен нулю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892040" y="559612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Неполная анкета не даёт ложную точку на графике. Каждая версия шкалы в своей серии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8046720" y="5303520"/>
            <a:ext cx="457200" cy="457200"/>
          </a:xfrm>
          <a:prstGeom prst="ellipse">
            <a:avLst/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164" y="5426964"/>
            <a:ext cx="210312" cy="21031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641080" y="53035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Баллы не диагноз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8641080" y="559612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Суммы видит только врач, а повтор анкеты врач предлагает в один щелчок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1908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B7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30122" cy="256032"/>
          </a:xfrm>
          <a:prstGeom prst="roundRect">
            <a:avLst>
              <a:gd name="adj" fmla="val 50000"/>
            </a:avLst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301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</a:t>
            </a:r>
            <a:endParaRPr lang="en-US" sz="9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548640" y="73152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Врач в центре каждого клинического решения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3593592" cy="1901952"/>
          </a:xfrm>
          <a:prstGeom prst="roundRect">
            <a:avLst>
              <a:gd name="adj" fmla="val 3846"/>
            </a:avLst>
          </a:prstGeom>
          <a:solidFill>
            <a:srgbClr val="FBEBD9"/>
          </a:solidFill>
          <a:ln w="12700">
            <a:solidFill>
              <a:srgbClr val="FBEB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883664"/>
            <a:ext cx="512064" cy="512064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2929" y="2021921"/>
            <a:ext cx="235549" cy="23554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188366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Подтверждение врача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542032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Назначение, изменение и отмена терапии, направление и новый план вступают в силу только после подтверждения на сервере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97680" y="1627632"/>
            <a:ext cx="3593592" cy="1901952"/>
          </a:xfrm>
          <a:prstGeom prst="roundRect">
            <a:avLst>
              <a:gd name="adj" fmla="val 3846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53712" y="1883664"/>
            <a:ext cx="512064" cy="512064"/>
          </a:xfrm>
          <a:prstGeom prst="ellipse">
            <a:avLst/>
          </a:prstGeom>
          <a:solidFill>
            <a:srgbClr val="123A40"/>
          </a:solidFill>
          <a:ln w="12700">
            <a:solidFill>
              <a:srgbClr val="123A4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969" y="2021921"/>
            <a:ext cx="235549" cy="23554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12080" y="188366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Права и связи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53712" y="2542032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Врач видит только своих пациентов. Сервер проверяет роль и связь при каждом запросе, даже прямом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046720" y="1627632"/>
            <a:ext cx="3593592" cy="1901952"/>
          </a:xfrm>
          <a:prstGeom prst="roundRect">
            <a:avLst>
              <a:gd name="adj" fmla="val 3846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02752" y="1883664"/>
            <a:ext cx="512064" cy="512064"/>
          </a:xfrm>
          <a:prstGeom prst="ellipse">
            <a:avLst/>
          </a:prstGeom>
          <a:solidFill>
            <a:srgbClr val="123A40"/>
          </a:solidFill>
          <a:ln w="12700">
            <a:solidFill>
              <a:srgbClr val="123A4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1009" y="2021921"/>
            <a:ext cx="235549" cy="235549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961120" y="188366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Журнал происхождения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302752" y="2542032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каждой записи автор, время и исходный текст. Исправление дополняет историю и ничего не стирает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48640" y="3730752"/>
            <a:ext cx="3593592" cy="1901952"/>
          </a:xfrm>
          <a:prstGeom prst="roundRect">
            <a:avLst>
              <a:gd name="adj" fmla="val 3846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04672" y="3986784"/>
            <a:ext cx="512064" cy="512064"/>
          </a:xfrm>
          <a:prstGeom prst="ellipse">
            <a:avLst/>
          </a:prstGeom>
          <a:solidFill>
            <a:srgbClr val="123A40"/>
          </a:solidFill>
          <a:ln w="12700">
            <a:solidFill>
              <a:srgbClr val="123A40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929" y="4125041"/>
            <a:ext cx="235549" cy="235549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63040" y="398678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Защита входа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04672" y="4645152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Токены против подделки запросов, истечение сессий, одноразовые приглашения и отзыв доступа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4297680" y="3730752"/>
            <a:ext cx="3593592" cy="1901952"/>
          </a:xfrm>
          <a:prstGeom prst="roundRect">
            <a:avLst>
              <a:gd name="adj" fmla="val 3846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553712" y="3986784"/>
            <a:ext cx="512064" cy="512064"/>
          </a:xfrm>
          <a:prstGeom prst="ellipse">
            <a:avLst/>
          </a:prstGeom>
          <a:solidFill>
            <a:srgbClr val="123A40"/>
          </a:solidFill>
          <a:ln w="12700">
            <a:solidFill>
              <a:srgbClr val="123A40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1969" y="4125041"/>
            <a:ext cx="235549" cy="235549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12080" y="398678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Без внешних сервисов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53712" y="4645152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Шрифты и скрипты свои, строгая политика безопасности страниц. Данные не уходят третьим лицам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8046720" y="3730752"/>
            <a:ext cx="3593592" cy="1901952"/>
          </a:xfrm>
          <a:prstGeom prst="roundRect">
            <a:avLst>
              <a:gd name="adj" fmla="val 3846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8302752" y="3986784"/>
            <a:ext cx="512064" cy="512064"/>
          </a:xfrm>
          <a:prstGeom prst="ellipse">
            <a:avLst/>
          </a:prstGeom>
          <a:solidFill>
            <a:srgbClr val="123A40"/>
          </a:solidFill>
          <a:ln w="12700">
            <a:solidFill>
              <a:srgbClr val="123A40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1009" y="4125041"/>
            <a:ext cx="235549" cy="235549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961120" y="398678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Только вымышленные данные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302752" y="4645152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демонстрации 8 придуманных пациентов и 3 врача. Реальные данные людей не вводятся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Технологии прототипа: Python и Flask, SQLite, HTML, CSS и JavaScript без сторонних библиотек в браузере.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1908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B7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150315" cy="256032"/>
          </a:xfrm>
          <a:prstGeom prst="roundRect">
            <a:avLst>
              <a:gd name="adj" fmla="val 50000"/>
            </a:avLst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1503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ИСПЫТАНИЯ</a:t>
            </a:r>
            <a:endParaRPr lang="en-US" sz="9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548640" y="73152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Технически сервис готов к первым врачам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8716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принятых этапа разработки, каждый с проверкой и отчётом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364992" y="16002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6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95 %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364992" y="248716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кода веб-сервиса покрыто автотестами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81344" y="16002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588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6181344" y="248716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автотестов, все проходят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97696" y="16002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мс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8997696" y="248716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медианное время ответа самой тяжёлой страницы врача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310128"/>
            <a:ext cx="3593592" cy="2395728"/>
          </a:xfrm>
          <a:prstGeom prst="roundRect">
            <a:avLst>
              <a:gd name="adj" fmla="val 3053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3538728"/>
            <a:ext cx="475488" cy="475488"/>
          </a:xfrm>
          <a:prstGeom prst="ellipse">
            <a:avLst/>
          </a:prstGeom>
          <a:solidFill>
            <a:srgbClr val="123A40"/>
          </a:solidFill>
          <a:ln w="12700">
            <a:solidFill>
              <a:srgbClr val="123A40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054" y="3667110"/>
            <a:ext cx="218724" cy="21872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17320" y="3538728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Надёжность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" y="4178808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Перезапуск сервера без потери данных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Резервная копия базы перед каждым изменением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Повторная отправка формы не создаёт дублей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297680" y="3310128"/>
            <a:ext cx="3593592" cy="2395728"/>
          </a:xfrm>
          <a:prstGeom prst="roundRect">
            <a:avLst>
              <a:gd name="adj" fmla="val 3053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53712" y="3538728"/>
            <a:ext cx="475488" cy="475488"/>
          </a:xfrm>
          <a:prstGeom prst="ellipse">
            <a:avLst/>
          </a:prstGeom>
          <a:solidFill>
            <a:srgbClr val="123A40"/>
          </a:solidFill>
          <a:ln w="12700">
            <a:solidFill>
              <a:srgbClr val="123A40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2094" y="3667110"/>
            <a:ext cx="218724" cy="218724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166360" y="3538728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Защита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553712" y="4178808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проверок прав и защиты: чужой пациент, подделка запроса, истёкшая сессия, отозванное приглашение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Клинические действия без врача отклоняются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8046720" y="3310128"/>
            <a:ext cx="3593592" cy="2395728"/>
          </a:xfrm>
          <a:prstGeom prst="roundRect">
            <a:avLst>
              <a:gd name="adj" fmla="val 3053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302752" y="3538728"/>
            <a:ext cx="475488" cy="475488"/>
          </a:xfrm>
          <a:prstGeom prst="ellipse">
            <a:avLst/>
          </a:prstGeom>
          <a:solidFill>
            <a:srgbClr val="123A40"/>
          </a:solidFill>
          <a:ln w="12700">
            <a:solidFill>
              <a:srgbClr val="123A40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1134" y="3667110"/>
            <a:ext cx="218724" cy="21872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915400" y="3538728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Удобство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8302752" y="4178808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261 снимков экрана просмотрено при приёмке этапов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от 320 px и компьютер 1440 px без горизонтальной прокрутки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Замеры 23.10.2026: unittest и coverage 7.17. 95 % — код веб-сервиса, по всему пакету вместе с отложенными модулями 89 %. Методика — в приложении.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1908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B7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63778" cy="256032"/>
          </a:xfrm>
          <a:prstGeom prst="roundRect">
            <a:avLst>
              <a:gd name="adj" fmla="val 50000"/>
            </a:avLst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9637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</a:t>
            </a:r>
            <a:endParaRPr lang="en-US" sz="9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548640" y="73152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Страницы врача открываются за сотые доли секунды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54480"/>
          <a:ext cx="60350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812280" y="1554480"/>
          <a:ext cx="4828032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68756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6875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ВЫМЫШЛЕННАЯ КЛИНИКА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2743200" y="5687568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</a:t>
            </a:r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пациентов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206240" y="5687568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</a:t>
            </a:r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врача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669280" y="5687568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</a:t>
            </a:r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недель истории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132320" y="5687568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 </a:t>
            </a:r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самоотчёта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595360" y="5687568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 </a:t>
            </a:r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анкеты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0058400" y="5687568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 </a:t>
            </a:r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отметок о препаратах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1908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B7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616659" cy="256032"/>
          </a:xfrm>
          <a:prstGeom prst="roundRect">
            <a:avLst>
              <a:gd name="adj" fmla="val 50000"/>
            </a:avLst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6166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9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548640" y="73152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Двенадцать месяцев: от пилота до работы в клинике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04288"/>
            <a:ext cx="9281160" cy="0"/>
          </a:xfrm>
          <a:prstGeom prst="line">
            <a:avLst/>
          </a:prstGeom>
          <a:noFill/>
          <a:ln w="25400">
            <a:solidFill>
              <a:srgbClr val="D3DE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2148840"/>
            <a:ext cx="310896" cy="310896"/>
          </a:xfrm>
          <a:prstGeom prst="ellipse">
            <a:avLst/>
          </a:prstGeom>
          <a:solidFill>
            <a:srgbClr val="1F6F6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642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Ноябрь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737360" cy="2331720"/>
          </a:xfrm>
          <a:prstGeom prst="roundRect">
            <a:avLst>
              <a:gd name="adj" fmla="val 4211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8803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" y="3003804"/>
            <a:ext cx="210312" cy="21031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31520" y="34290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4023360"/>
            <a:ext cx="14813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переписан на Go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PostgreSQL, нагрузочные тесты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560320" y="2148840"/>
            <a:ext cx="310896" cy="310896"/>
          </a:xfrm>
          <a:prstGeom prst="ellipse">
            <a:avLst/>
          </a:prstGeom>
          <a:solidFill>
            <a:srgbClr val="1F6F6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404872" y="16642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Декабрь 2026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404872" y="2697480"/>
            <a:ext cx="1737360" cy="2331720"/>
          </a:xfrm>
          <a:prstGeom prst="roundRect">
            <a:avLst>
              <a:gd name="adj" fmla="val 4211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587752" y="28803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1196" y="3003804"/>
            <a:ext cx="210312" cy="21031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587752" y="34290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Пилот с врачами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2587752" y="4023360"/>
            <a:ext cx="14813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психиатров на тестовых историях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Замер удобства по шкале SUS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416552" y="2148840"/>
            <a:ext cx="310896" cy="310896"/>
          </a:xfrm>
          <a:prstGeom prst="ellipse">
            <a:avLst/>
          </a:prstGeom>
          <a:solidFill>
            <a:srgbClr val="D982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261104" y="16642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A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кв. 2027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4261104" y="2697480"/>
            <a:ext cx="1737360" cy="2331720"/>
          </a:xfrm>
          <a:prstGeom prst="roundRect">
            <a:avLst>
              <a:gd name="adj" fmla="val 4211"/>
            </a:avLst>
          </a:prstGeom>
          <a:solidFill>
            <a:srgbClr val="FBEBD9"/>
          </a:solidFill>
          <a:ln w="12700">
            <a:solidFill>
              <a:srgbClr val="FBEBD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443984" y="2880360"/>
            <a:ext cx="457200" cy="45720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7428" y="3003804"/>
            <a:ext cx="210312" cy="210312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4443984" y="34290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Тревожные признаки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4443984" y="4023360"/>
            <a:ext cx="14813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раннего выявления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проверяют клинические эксперты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6272784" y="2148840"/>
            <a:ext cx="310896" cy="310896"/>
          </a:xfrm>
          <a:prstGeom prst="ellipse">
            <a:avLst/>
          </a:prstGeom>
          <a:solidFill>
            <a:srgbClr val="1F6F6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117336" y="16642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кв. 2027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6117336" y="2697480"/>
            <a:ext cx="1737360" cy="2331720"/>
          </a:xfrm>
          <a:prstGeom prst="roundRect">
            <a:avLst>
              <a:gd name="adj" fmla="val 4211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300216" y="28803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3660" y="3003804"/>
            <a:ext cx="210312" cy="210312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6300216" y="34290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Клиника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6300216" y="4023360"/>
            <a:ext cx="14813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с пациентами по согласию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Хостинг в РФ, 152-ФЗ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8129016" y="2148840"/>
            <a:ext cx="310896" cy="310896"/>
          </a:xfrm>
          <a:prstGeom prst="ellipse">
            <a:avLst/>
          </a:prstGeom>
          <a:solidFill>
            <a:srgbClr val="1F6F6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7973568" y="16642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 кв. 2027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7973568" y="2697480"/>
            <a:ext cx="1737360" cy="2331720"/>
          </a:xfrm>
          <a:prstGeom prst="roundRect">
            <a:avLst>
              <a:gd name="adj" fmla="val 4211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8156448" y="28803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9892" y="3003804"/>
            <a:ext cx="210312" cy="210312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8156448" y="34290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Регистрация</a:t>
            </a:r>
            <a:endParaRPr lang="en-US" sz="1400" dirty="0"/>
          </a:p>
        </p:txBody>
      </p:sp>
      <p:sp>
        <p:nvSpPr>
          <p:cNvPr id="40" name="Text 33"/>
          <p:cNvSpPr txBox="1"/>
          <p:nvPr/>
        </p:nvSpPr>
        <p:spPr>
          <a:xfrm>
            <a:off x="8156448" y="4023360"/>
            <a:ext cx="14813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 для Росздравнадзора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Клиническая оценка</a:t>
            </a:r>
            <a:endParaRPr lang="en-US" sz="1200" dirty="0"/>
          </a:p>
        </p:txBody>
      </p:sp>
      <p:sp>
        <p:nvSpPr>
          <p:cNvPr id="41" name="Shape 34"/>
          <p:cNvSpPr/>
          <p:nvPr/>
        </p:nvSpPr>
        <p:spPr>
          <a:xfrm>
            <a:off x="9985248" y="2148840"/>
            <a:ext cx="310896" cy="310896"/>
          </a:xfrm>
          <a:prstGeom prst="ellipse">
            <a:avLst/>
          </a:prstGeom>
          <a:solidFill>
            <a:srgbClr val="1F6F6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9829800" y="16642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кв. 2027</a:t>
            </a:r>
            <a:endParaRPr lang="en-US" sz="1200" dirty="0"/>
          </a:p>
        </p:txBody>
      </p:sp>
      <p:sp>
        <p:nvSpPr>
          <p:cNvPr id="43" name="Shape 36"/>
          <p:cNvSpPr/>
          <p:nvPr/>
        </p:nvSpPr>
        <p:spPr>
          <a:xfrm>
            <a:off x="9829800" y="2697480"/>
            <a:ext cx="1737360" cy="2331720"/>
          </a:xfrm>
          <a:prstGeom prst="roundRect">
            <a:avLst>
              <a:gd name="adj" fmla="val 4211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10012680" y="28803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36124" y="3003804"/>
            <a:ext cx="210312" cy="210312"/>
          </a:xfrm>
          <a:prstGeom prst="rect">
            <a:avLst/>
          </a:prstGeom>
        </p:spPr>
      </p:pic>
      <p:sp>
        <p:nvSpPr>
          <p:cNvPr id="46" name="Text 38"/>
          <p:cNvSpPr txBox="1"/>
          <p:nvPr/>
        </p:nvSpPr>
        <p:spPr>
          <a:xfrm>
            <a:off x="10012680" y="34290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Интеграция</a:t>
            </a:r>
            <a:endParaRPr lang="en-US" sz="1400" dirty="0"/>
          </a:p>
        </p:txBody>
      </p:sp>
      <p:sp>
        <p:nvSpPr>
          <p:cNvPr id="47" name="Text 39"/>
          <p:cNvSpPr txBox="1"/>
          <p:nvPr/>
        </p:nvSpPr>
        <p:spPr>
          <a:xfrm>
            <a:off x="10012680" y="4023360"/>
            <a:ext cx="14813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Подключение к медицинским информационным системам клиник</a:t>
            </a:r>
            <a:endParaRPr lang="en-US" sz="1200" dirty="0"/>
          </a:p>
        </p:txBody>
      </p:sp>
      <p:sp>
        <p:nvSpPr>
          <p:cNvPr id="48" name="Text 40"/>
          <p:cNvSpPr txBox="1"/>
          <p:nvPr/>
        </p:nvSpPr>
        <p:spPr>
          <a:xfrm>
            <a:off x="548640" y="53035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 на Go даёт один исполняемый файл, быструю параллельную обработку уведомлений и простое развёртывание в клинике.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1908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B7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03197" cy="256032"/>
          </a:xfrm>
          <a:prstGeom prst="roundRect">
            <a:avLst>
              <a:gd name="adj" fmla="val 50000"/>
            </a:avLst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031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МОДУЛЬ</a:t>
            </a:r>
            <a:endParaRPr lang="en-US" sz="9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548640" y="73152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Тревожные признаки сразу попадают к врачу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057400" cy="2697480"/>
          </a:xfrm>
          <a:prstGeom prst="roundRect">
            <a:avLst>
              <a:gd name="adj" fmla="val 3556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920240"/>
            <a:ext cx="530352" cy="530352"/>
          </a:xfrm>
          <a:prstGeom prst="ellipse">
            <a:avLst/>
          </a:prstGeom>
          <a:solidFill>
            <a:srgbClr val="1F6F68"/>
          </a:solidFill>
          <a:ln w="12700">
            <a:solidFill>
              <a:srgbClr val="1F6F6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003" y="2063435"/>
            <a:ext cx="243962" cy="24396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258775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Сигналы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3154680"/>
            <a:ext cx="1719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анкет, записи дневника, пропуски препаратов, сообщения пациента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880360"/>
            <a:ext cx="164592" cy="16459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807208" y="1691640"/>
            <a:ext cx="2057400" cy="2697480"/>
          </a:xfrm>
          <a:prstGeom prst="roundRect">
            <a:avLst>
              <a:gd name="adj" fmla="val 3556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008376" y="1920240"/>
            <a:ext cx="530352" cy="530352"/>
          </a:xfrm>
          <a:prstGeom prst="ellipse">
            <a:avLst/>
          </a:prstGeom>
          <a:solidFill>
            <a:srgbClr val="1F6F68"/>
          </a:solidFill>
          <a:ln w="12700">
            <a:solidFill>
              <a:srgbClr val="1F6F6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1571" y="2063435"/>
            <a:ext cx="243962" cy="24396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008376" y="258775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Правила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3008376" y="3154680"/>
            <a:ext cx="1719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Критерии из клинических рекомендаций и проверенных шкал, у каждого правила источник</a:t>
            </a:r>
            <a:endParaRPr lang="en-US" sz="11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80360"/>
            <a:ext cx="164592" cy="164592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5065776" y="1691640"/>
            <a:ext cx="2057400" cy="2697480"/>
          </a:xfrm>
          <a:prstGeom prst="roundRect">
            <a:avLst>
              <a:gd name="adj" fmla="val 3556"/>
            </a:avLst>
          </a:prstGeom>
          <a:solidFill>
            <a:srgbClr val="FBEBD9"/>
          </a:solidFill>
          <a:ln w="12700">
            <a:solidFill>
              <a:srgbClr val="FBEBD9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5266944" y="1920240"/>
            <a:ext cx="530352" cy="53035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0139" y="2063435"/>
            <a:ext cx="243962" cy="24396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5266944" y="258775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Срочное уведомление</a:t>
            </a:r>
            <a:endParaRPr lang="en-US" sz="1400" dirty="0"/>
          </a:p>
        </p:txBody>
      </p:sp>
      <p:sp>
        <p:nvSpPr>
          <p:cNvPr id="21" name="Text 14"/>
          <p:cNvSpPr txBox="1"/>
          <p:nvPr/>
        </p:nvSpPr>
        <p:spPr>
          <a:xfrm>
            <a:off x="5266944" y="3154680"/>
            <a:ext cx="1719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Врач сразу получает сигнал с причиной и исходной записью, при молчании — повтор</a:t>
            </a:r>
            <a:endParaRPr lang="en-US" sz="11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880360"/>
            <a:ext cx="164592" cy="164592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7324344" y="1691640"/>
            <a:ext cx="2057400" cy="2697480"/>
          </a:xfrm>
          <a:prstGeom prst="roundRect">
            <a:avLst>
              <a:gd name="adj" fmla="val 3556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7525512" y="1920240"/>
            <a:ext cx="530352" cy="530352"/>
          </a:xfrm>
          <a:prstGeom prst="ellipse">
            <a:avLst/>
          </a:prstGeom>
          <a:solidFill>
            <a:srgbClr val="1F6F68"/>
          </a:solidFill>
          <a:ln w="12700">
            <a:solidFill>
              <a:srgbClr val="1F6F68"/>
            </a:solidFill>
            <a:prstDash val="solid"/>
          </a:ln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8707" y="2063435"/>
            <a:ext cx="243962" cy="24396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525512" y="258775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Варианты действий</a:t>
            </a:r>
            <a:endParaRPr lang="en-US" sz="1400" dirty="0"/>
          </a:p>
        </p:txBody>
      </p:sp>
      <p:sp>
        <p:nvSpPr>
          <p:cNvPr id="27" name="Text 18"/>
          <p:cNvSpPr txBox="1"/>
          <p:nvPr/>
        </p:nvSpPr>
        <p:spPr>
          <a:xfrm>
            <a:off x="7525512" y="3154680"/>
            <a:ext cx="1719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Сервис предлагает варианты лечения и дальнейших шагов со ссылками на рекомендации</a:t>
            </a:r>
            <a:endParaRPr lang="en-US" sz="11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880360"/>
            <a:ext cx="164592" cy="164592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9582912" y="1691640"/>
            <a:ext cx="2057400" cy="2697480"/>
          </a:xfrm>
          <a:prstGeom prst="roundRect">
            <a:avLst>
              <a:gd name="adj" fmla="val 3556"/>
            </a:avLst>
          </a:prstGeom>
          <a:solidFill>
            <a:srgbClr val="123A40"/>
          </a:solidFill>
          <a:ln w="12700">
            <a:solidFill>
              <a:srgbClr val="123A40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9784080" y="1920240"/>
            <a:ext cx="530352" cy="53035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27275" y="2063435"/>
            <a:ext cx="243962" cy="243962"/>
          </a:xfrm>
          <a:prstGeom prst="rect">
            <a:avLst/>
          </a:prstGeom>
        </p:spPr>
      </p:pic>
      <p:sp>
        <p:nvSpPr>
          <p:cNvPr id="32" name="Text 21"/>
          <p:cNvSpPr txBox="1"/>
          <p:nvPr/>
        </p:nvSpPr>
        <p:spPr>
          <a:xfrm>
            <a:off x="9784080" y="258775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Решение врача</a:t>
            </a:r>
            <a:endParaRPr lang="en-US" sz="1400" dirty="0"/>
          </a:p>
        </p:txBody>
      </p:sp>
      <p:sp>
        <p:nvSpPr>
          <p:cNvPr id="33" name="Text 22"/>
          <p:cNvSpPr txBox="1"/>
          <p:nvPr/>
        </p:nvSpPr>
        <p:spPr>
          <a:xfrm>
            <a:off x="9784080" y="3154680"/>
            <a:ext cx="1719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4E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Врач выбирает и подтверждает, пациент видит только одобренный план</a:t>
            </a:r>
            <a:endParaRPr lang="en-US" sz="1100" dirty="0"/>
          </a:p>
        </p:txBody>
      </p:sp>
      <p:sp>
        <p:nvSpPr>
          <p:cNvPr id="34" name="Shape 23"/>
          <p:cNvSpPr/>
          <p:nvPr/>
        </p:nvSpPr>
        <p:spPr>
          <a:xfrm>
            <a:off x="548640" y="4663440"/>
            <a:ext cx="66751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3DEDB"/>
            </a:solidFill>
            <a:prstDash val="solid"/>
          </a:ln>
        </p:spPr>
      </p:sp>
      <p:sp>
        <p:nvSpPr>
          <p:cNvPr id="35" name="Text 24"/>
          <p:cNvSpPr txBox="1"/>
          <p:nvPr/>
        </p:nvSpPr>
        <p:spPr>
          <a:xfrm>
            <a:off x="777240" y="4736592"/>
            <a:ext cx="6263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 правила
</a:t>
            </a:r>
            <a:pPr indent="0" marL="0">
              <a:buNone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Положительный ответ на 9-й вопрос PHQ-9 — срочное уведомление врачу с исходным ответом пациента и вариантами дальнейших действий</a:t>
            </a:r>
            <a:endParaRPr lang="en-US" sz="1400" dirty="0"/>
          </a:p>
        </p:txBody>
      </p:sp>
      <p:sp>
        <p:nvSpPr>
          <p:cNvPr id="36" name="Shape 25"/>
          <p:cNvSpPr/>
          <p:nvPr/>
        </p:nvSpPr>
        <p:spPr>
          <a:xfrm>
            <a:off x="7452360" y="4663440"/>
            <a:ext cx="4187952" cy="1188720"/>
          </a:xfrm>
          <a:prstGeom prst="roundRect">
            <a:avLst>
              <a:gd name="adj" fmla="val 6154"/>
            </a:avLst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7680960" y="4663440"/>
            <a:ext cx="3794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уже в прототипе: исходные ответы, происхождение каждой записи, подтверждение врача и уведомления с повтором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1908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B7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150315" cy="256032"/>
          </a:xfrm>
          <a:prstGeom prst="roundRect">
            <a:avLst>
              <a:gd name="adj" fmla="val 50000"/>
            </a:avLst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1503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ВНЕДРЕНИЕ</a:t>
            </a:r>
            <a:endParaRPr lang="en-US" sz="9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548640" y="73152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нужно, чтобы сервис заработал в клинике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3593592" cy="3520440"/>
          </a:xfrm>
          <a:prstGeom prst="roundRect">
            <a:avLst>
              <a:gd name="adj" fmla="val 2078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847088"/>
            <a:ext cx="512064" cy="512064"/>
          </a:xfrm>
          <a:prstGeom prst="ellipse">
            <a:avLst/>
          </a:prstGeom>
          <a:solidFill>
            <a:srgbClr val="123A40"/>
          </a:solidFill>
          <a:ln w="12700">
            <a:solidFill>
              <a:srgbClr val="123A4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2929" y="1985345"/>
            <a:ext cx="235549" cy="23554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184708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560320"/>
            <a:ext cx="31546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152-ФЗ, ст. 10: данные о здоровье — особая категория, нужно письменное согласие пациента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323-ФЗ, ст. 13: врачебная тайна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для лечения может быть медизделием (323-ФЗ, ст. 38); регистрация в Росздравнадзоре по ПП РФ № 1684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627632"/>
            <a:ext cx="3593592" cy="3520440"/>
          </a:xfrm>
          <a:prstGeom prst="roundRect">
            <a:avLst>
              <a:gd name="adj" fmla="val 2078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53712" y="1847088"/>
            <a:ext cx="512064" cy="512064"/>
          </a:xfrm>
          <a:prstGeom prst="ellipse">
            <a:avLst/>
          </a:prstGeom>
          <a:solidFill>
            <a:srgbClr val="123A40"/>
          </a:solidFill>
          <a:ln w="12700">
            <a:solidFill>
              <a:srgbClr val="123A4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969" y="1985345"/>
            <a:ext cx="235549" cy="23554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12080" y="184708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Технологии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53712" y="2560320"/>
            <a:ext cx="31546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на Go и PostgreSQL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Хостинг в России, резервные копии и мониторинг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 медицинскими информационными системами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627632"/>
            <a:ext cx="3593592" cy="3520440"/>
          </a:xfrm>
          <a:prstGeom prst="roundRect">
            <a:avLst>
              <a:gd name="adj" fmla="val 2078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02752" y="1847088"/>
            <a:ext cx="512064" cy="512064"/>
          </a:xfrm>
          <a:prstGeom prst="ellipse">
            <a:avLst/>
          </a:prstGeom>
          <a:solidFill>
            <a:srgbClr val="123A40"/>
          </a:solidFill>
          <a:ln w="12700">
            <a:solidFill>
              <a:srgbClr val="123A4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1009" y="1985345"/>
            <a:ext cx="235549" cy="235549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961120" y="184708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Клиника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302752" y="2560320"/>
            <a:ext cx="31546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с психиатрами: время подготовки к приёму и удобство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Короткое обучение врача на тестовых историях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Согласие пациента на наблюдение в сервисе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48640" y="5349240"/>
            <a:ext cx="11094415" cy="621792"/>
          </a:xfrm>
          <a:prstGeom prst="roundRect">
            <a:avLst>
              <a:gd name="adj" fmla="val 11765"/>
            </a:avLst>
          </a:prstGeom>
          <a:solidFill>
            <a:srgbClr val="123A40"/>
          </a:solidFill>
          <a:ln w="12700">
            <a:solidFill>
              <a:srgbClr val="123A4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2960" y="5349240"/>
            <a:ext cx="105457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E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Просим у организаторов и партнёров: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площадку для пилота и клинических экспертов, которые проверят правила тревожных признаков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1908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B7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63778" cy="256032"/>
          </a:xfrm>
          <a:prstGeom prst="roundRect">
            <a:avLst>
              <a:gd name="adj" fmla="val 50000"/>
            </a:avLst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9637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9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548640" y="73152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Команда проекта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4206240" cy="4343400"/>
          </a:xfrm>
          <a:prstGeom prst="roundRect">
            <a:avLst>
              <a:gd name="adj" fmla="val 1739"/>
            </a:avLst>
          </a:prstGeom>
          <a:solidFill>
            <a:srgbClr val="123A40"/>
          </a:solidFill>
          <a:ln w="12700">
            <a:solidFill>
              <a:srgbClr val="123A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20240"/>
            <a:ext cx="1051560" cy="105156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920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АС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1546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Сибгатуллин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Азамат Ильдарович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59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BE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КАПИТАН · РАЗРАБОТЧИК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34340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4E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Спроектировал и написал сервис: сервер, база данных, кабинеты врача и пациента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4E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588 автотестов и 53 принятых этапа разработки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83480" y="1627632"/>
            <a:ext cx="3200400" cy="2103120"/>
          </a:xfrm>
          <a:prstGeom prst="roundRect">
            <a:avLst>
              <a:gd name="adj" fmla="val 3478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39512" y="1901952"/>
            <a:ext cx="777240" cy="777240"/>
          </a:xfrm>
          <a:prstGeom prst="ellipse">
            <a:avLst/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2392" y="2084832"/>
            <a:ext cx="411480" cy="4114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172200" y="1901952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Фамилия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Имя Отчество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39512" y="28620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В ПРОЕКТЕ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239512" y="31363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Чем занимается в команде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339328" y="1627632"/>
            <a:ext cx="3200400" cy="2103120"/>
          </a:xfrm>
          <a:prstGeom prst="roundRect">
            <a:avLst>
              <a:gd name="adj" fmla="val 3478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95360" y="1901952"/>
            <a:ext cx="777240" cy="777240"/>
          </a:xfrm>
          <a:prstGeom prst="ellipse">
            <a:avLst/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084832"/>
            <a:ext cx="411480" cy="41148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528048" y="1901952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Фамилия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Имя Отчество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595360" y="28620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В ПРОЕКТЕ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8595360" y="31363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Чем занимается в команде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4983480" y="3849624"/>
            <a:ext cx="3200400" cy="2103120"/>
          </a:xfrm>
          <a:prstGeom prst="roundRect">
            <a:avLst>
              <a:gd name="adj" fmla="val 3478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239512" y="4123944"/>
            <a:ext cx="777240" cy="777240"/>
          </a:xfrm>
          <a:prstGeom prst="ellipse">
            <a:avLst/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392" y="4306824"/>
            <a:ext cx="411480" cy="41148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6172200" y="412394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Фамилия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Имя Отчество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5239512" y="50840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В ПРОЕКТЕ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5239512" y="5358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Чем занимается в команде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8339328" y="3849624"/>
            <a:ext cx="3200400" cy="2103120"/>
          </a:xfrm>
          <a:prstGeom prst="roundRect">
            <a:avLst>
              <a:gd name="adj" fmla="val 3478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595360" y="4123944"/>
            <a:ext cx="777240" cy="777240"/>
          </a:xfrm>
          <a:prstGeom prst="ellipse">
            <a:avLst/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4306824"/>
            <a:ext cx="411480" cy="41148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528048" y="412394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Фамилия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Имя Отчество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8595360" y="50840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В ПРОЕКТЕ</a:t>
            </a:r>
            <a:endParaRPr lang="en-US" sz="1000" dirty="0"/>
          </a:p>
        </p:txBody>
      </p:sp>
      <p:sp>
        <p:nvSpPr>
          <p:cNvPr id="34" name="Text 28"/>
          <p:cNvSpPr txBox="1"/>
          <p:nvPr/>
        </p:nvSpPr>
        <p:spPr>
          <a:xfrm>
            <a:off x="8595360" y="5358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Чем занимается в команде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1908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B7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23390" cy="256032"/>
          </a:xfrm>
          <a:prstGeom prst="roundRect">
            <a:avLst>
              <a:gd name="adj" fmla="val 50000"/>
            </a:avLst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233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БЛАГОДАРНОСТИ</a:t>
            </a:r>
            <a:endParaRPr lang="en-US" sz="9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548640" y="73152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тем, кто помогал нам в работе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66928" cy="566928"/>
          </a:xfrm>
          <a:prstGeom prst="ellipse">
            <a:avLst/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711" y="1798991"/>
            <a:ext cx="260787" cy="2607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2763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Организаторам кейс-чемпионата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1947672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Авинейро и партнёрам за задачу, которая действительно нужна врачам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711" y="2877983"/>
            <a:ext cx="260787" cy="26078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25880" y="270662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Сеченовскому университету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1325880" y="3026664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соорганизатору чемпионата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803904"/>
            <a:ext cx="566928" cy="566928"/>
          </a:xfrm>
          <a:prstGeom prst="ellipse">
            <a:avLst/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711" y="3956975"/>
            <a:ext cx="260787" cy="26078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25880" y="378561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Кураторам и трекеру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1325880" y="4105656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встречи, вопросы и обратную связь по ходу работы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48640" y="4882896"/>
            <a:ext cx="566928" cy="566928"/>
          </a:xfrm>
          <a:prstGeom prst="ellipse">
            <a:avLst/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711" y="5035967"/>
            <a:ext cx="260787" cy="26078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325880" y="486460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Экспертам и жюри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1325880" y="518464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внимание к проекту и будущие замечания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7818120" y="1627632"/>
            <a:ext cx="3822192" cy="4343400"/>
          </a:xfrm>
          <a:prstGeom prst="roundRect">
            <a:avLst>
              <a:gd name="adj" fmla="val 1914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8385048" y="1828800"/>
            <a:ext cx="269748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9050">
            <a:solidFill>
              <a:srgbClr val="8FB9B2"/>
            </a:solidFill>
            <a:prstDash val="dash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724912"/>
            <a:ext cx="914400" cy="9144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001000" y="46451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QR-код демо-стенда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8001000" y="498348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появится после публикации стенда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1908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B7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54480" y="640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Клинический компас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01168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Врач за минуту видит, что изменилось у пациента между приёмами. Решение всегда остаётся за врачом.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069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588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17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автотестов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017520" y="4069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95 %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4617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покрытие кода сервиса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0" y="4069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0" y="4617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кабинета: врач и пациент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069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4617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проверенные анкеты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440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BEB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Спасибо! Готовы ответить на вопросы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B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Азамат Сибгатуллин и команда · кейс-чемпионат Авинейро ·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269541" cy="256032"/>
          </a:xfrm>
          <a:prstGeom prst="roundRect">
            <a:avLst>
              <a:gd name="adj" fmla="val 50000"/>
            </a:avLst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2695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· МЕТОДИКА</a:t>
            </a:r>
            <a:endParaRPr lang="en-US" sz="9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548640" y="73152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мы получили цифры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7251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Показатель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Значение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измерено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Автотесты приложения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518, все 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-m unittest discover -s apps/tests, 23.10.2026, 181 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Автотесты инструментов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 все 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-m unittest discover -s tools -p 'test_*.py'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 кода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 / 89 %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7.17 при прогоне 518 тестов; 95 % — код веб-сервиса (3 282 оператора), 89 % — весь пакет apps/compass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Время ответа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медиана 3,6–15,5 мс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последовательных GET-запросов врача на страницу к локальному серверу Flask на копии рабочей базы, MacBook на Apple Silicon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Принятые этапы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slice/* в Git с отчётом приёмки, 18–23.10.2026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Проверки защиты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тесты test_access.py (17) и test_security.py (10): роли, связи, CSRF, сессии, приглашения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Просмотр экранов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 снимок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снимки экранов в evidence/ за все этапы, ширина 320–1440 px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Демо-данные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пациентов, 3 врача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рабочая база: 56 самоотчётов, 72 анкеты, 250 отметок о препаратах; все люди вымышленные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1908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B7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62810" cy="256032"/>
          </a:xfrm>
          <a:prstGeom prst="roundRect">
            <a:avLst>
              <a:gd name="adj" fmla="val 50000"/>
            </a:avLst>
          </a:prstGeom>
          <a:solidFill>
            <a:srgbClr val="DCEBE8"/>
          </a:solidFill>
          <a:ln w="12700">
            <a:solidFill>
              <a:srgbClr val="DCEB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362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1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· ИСТОЧНИКИ</a:t>
            </a:r>
            <a:endParaRPr lang="en-US" sz="9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548640" y="73152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 цифр и норм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6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600200"/>
            <a:ext cx="10682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 / ПАОЗ. Over a billion people living with mental health conditions, 02.09.2025. paho.org/en/news/2-9-2025-over-billion-people-living-mental-health-conditions-services-require-urgent-scale-up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12264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6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112264"/>
            <a:ext cx="10682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Consortium Psychiatricum, 2024: распространённость тревоги и депрессии в Москве по скринингу. consortium-psy.com/jour/article/view/15487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62432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6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624328"/>
            <a:ext cx="10682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Guo T. et al. Measurement-based care versus standard care for major depression. Am J Psychiatry, 2015; 172(10): 1004–1013. doi:10.1176/appi.ajp.2015.14050652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13639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6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136392"/>
            <a:ext cx="10682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Fortney J.C. et al. A Tipping Point for Measurement-Based Care. Psychiatric Services, 2017; 68(2): 179–188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64845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6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648456"/>
            <a:ext cx="10682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Федеральный закон № 152-ФЗ «О персональных данных», ст. 10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605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6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4160520"/>
            <a:ext cx="10682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Федеральный закон № 323-ФЗ «Об основах охраны здоровья граждан в РФ», ст. 13 и ст. 38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672584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6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672584"/>
            <a:ext cx="10682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Постановление Правительства РФ от 30.11.2024 № 1684 «Об утверждении Правил государственной регистрации медицинских изделий» (действует с 01.03.2025)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18464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6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5184648"/>
            <a:ext cx="10682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Золотарева А.А., 2023: русские версии PHQ-9 и GAD-7; Фаттахов, Горобец: русская версия DASS-42 (источники и права — evidence/S34/research.md, docs/clinical/scales-rights.md)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1908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B7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linicheskiy Kompas">
  <a:themeElements>
    <a:clrScheme name="Klinicheskiy Kompas">
      <a:dk1>
        <a:srgbClr val="16252B"/>
      </a:dk1>
      <a:lt1>
        <a:srgbClr val="FFFFFF"/>
      </a:lt1>
      <a:dk2>
        <a:srgbClr val="123A40"/>
      </a:dk2>
      <a:lt2>
        <a:srgbClr val="F1F5F4"/>
      </a:lt2>
      <a:accent1>
        <a:srgbClr val="1F6F68"/>
      </a:accent1>
      <a:accent2>
        <a:srgbClr val="D9822B"/>
      </a:accent2>
      <a:accent3>
        <a:srgbClr val="2E7D4F"/>
      </a:accent3>
      <a:accent4>
        <a:srgbClr val="B3412F"/>
      </a:accent4>
      <a:accent5>
        <a:srgbClr val="5A6B71"/>
      </a:accent5>
      <a:accent6>
        <a:srgbClr val="8FB9B2"/>
      </a:accent6>
      <a:hlink>
        <a:srgbClr val="1F6F68"/>
      </a:hlink>
      <a:folHlink>
        <a:srgbClr val="5A6B71"/>
      </a:folHlink>
    </a:clrScheme>
    <a:fontScheme name="Klinicheskiy Kompa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Команда «Клинический компас»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Клинический компас — предзащита и демо-день</dc:title>
  <dc:subject>PptxGenJS Presentation</dc:subject>
  <dc:creator>Азамат Сибгатуллин и команда</dc:creator>
  <cp:lastModifiedBy>Азамат Сибгатуллин и команда</cp:lastModifiedBy>
  <cp:revision>1</cp:revision>
  <dcterms:created xsi:type="dcterms:W3CDTF">2026-10-23T13:33:58Z</dcterms:created>
  <dcterms:modified xsi:type="dcterms:W3CDTF">2026-10-23T13:33:58Z</dcterms:modified>
</cp:coreProperties>
</file>