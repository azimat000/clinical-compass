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d252efde-812e-78fb-fc6e-760142f15f59}">
          <p14:sldIdLst>
            <p14:sldId id="256"/>
          </p14:sldIdLst>
        </p14:section>
        <p14:section name="1. Идея" id="{df8e3af0-b312-1b96-704e-7d02fc105155}">
          <p14:sldIdLst>
            <p14:sldId id="257"/>
            <p14:sldId id="258"/>
            <p14:sldId id="259"/>
          </p14:sldIdLst>
        </p14:section>
        <p14:section name="2. Прототип" id="{e320e50a-fb27-3073-1cbb-f6e2ee439850}">
          <p14:sldIdLst>
            <p14:sldId id="260"/>
            <p14:sldId id="261"/>
            <p14:sldId id="262"/>
            <p14:sldId id="263"/>
          </p14:sldIdLst>
        </p14:section>
        <p14:section name="3. Испытания" id="{db131931-598b-e9ab-d1d0-bee5500ea5c7}">
          <p14:sldIdLst>
            <p14:sldId id="264"/>
            <p14:sldId id="265"/>
          </p14:sldIdLst>
        </p14:section>
        <p14:section name="4. Планы" id="{065615ea-f3c0-8148-583c-c35d148b1e2e}">
          <p14:sldIdLst>
            <p14:sldId id="266"/>
            <p14:sldId id="267"/>
            <p14:sldId id="268"/>
          </p14:sldIdLst>
        </p14:section>
        <p14:section name="5. Команда" id="{d2d1ef3b-4ab9-04d4-4539-83eb6c1a36d4}">
          <p14:sldIdLst>
            <p14:sldId id="269"/>
            <p14:sldId id="270"/>
          </p14:sldIdLst>
        </p14:section>
        <p14:section name="Приложение" id="{701eea9f-1a22-3998-d001-a60d4f7d2a74}">
          <p14:sldIdLst>
            <p14:sldId id="271"/>
            <p14:sldId id="272"/>
          </p14:sldIdLst>
        </p14:section>
        <p14:section name="Финал" id="{f9855243-00e3-30fd-1d82-b876276b3b0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A40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A40"/>
                </a:solidFill>
                <a:latin typeface="+mj-lt"/>
              </a:rPr>
              <a:t>Время ответа сервера, мс (40 запросов на страницу)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Медиана, мс</c:v>
                </c:pt>
              </c:strCache>
            </c:strRef>
          </c:tx>
          <c:spPr>
            <a:solidFill>
              <a:srgbClr val="1F6F6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5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Список пациентов</c:v>
                  </c:pt>
                  <c:pt idx="1">
                    <c:v>Сводка к приёму</c:v>
                  </c:pt>
                  <c:pt idx="2">
                    <c:v>План и препараты</c:v>
                  </c:pt>
                  <c:pt idx="3">
                    <c:v>Карточка пациента</c:v>
                  </c:pt>
                  <c:pt idx="4">
                    <c:v>Сообщения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8.7</c:v>
                </c:pt>
                <c:pt idx="1">
                  <c:v>4.7</c:v>
                </c:pt>
                <c:pt idx="2">
                  <c:v>8.9</c:v>
                </c:pt>
                <c:pt idx="3">
                  <c:v>15.5</c:v>
                </c:pt>
                <c:pt idx="4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95 % запросов быстрее, мс</c:v>
                </c:pt>
              </c:strCache>
            </c:strRef>
          </c:tx>
          <c:spPr>
            <a:solidFill>
              <a:srgbClr val="8FB9B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5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Список пациентов</c:v>
                  </c:pt>
                  <c:pt idx="1">
                    <c:v>Сводка к приёму</c:v>
                  </c:pt>
                  <c:pt idx="2">
                    <c:v>План и препараты</c:v>
                  </c:pt>
                  <c:pt idx="3">
                    <c:v>Карточка пациента</c:v>
                  </c:pt>
                  <c:pt idx="4">
                    <c:v>Сообщения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47.4</c:v>
                </c:pt>
                <c:pt idx="1">
                  <c:v>5.2</c:v>
                </c:pt>
                <c:pt idx="2">
                  <c:v>9.8</c:v>
                </c:pt>
                <c:pt idx="3">
                  <c:v>16.9</c:v>
                </c:pt>
                <c:pt idx="4">
                  <c:v>4.9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625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3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5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A40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23A40"/>
                </a:solidFill>
                <a:latin typeface="+mj-lt"/>
              </a:rPr>
              <a:t>Покрытие автотестами ключевых модулей,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Покрытие, %</c:v>
                </c:pt>
              </c:strCache>
            </c:strRef>
          </c:tx>
          <c:spPr>
            <a:solidFill>
              <a:srgbClr val="123A4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5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Препараты</c:v>
                  </c:pt>
                  <c:pt idx="1">
                    <c:v>Права и доступ</c:v>
                  </c:pt>
                  <c:pt idx="2">
                    <c:v>Повторное наблюдение</c:v>
                  </c:pt>
                  <c:pt idx="3">
                    <c:v>Записи пациента</c:v>
                  </c:pt>
                  <c:pt idx="4">
                    <c:v>Анкеты</c:v>
                  </c:pt>
                  <c:pt idx="5">
                    <c:v>Сообщения</c:v>
                  </c:pt>
                  <c:pt idx="6">
                    <c:v>Веб-слой</c:v>
                  </c:pt>
                  <c:pt idx="7">
                    <c:v>Решения врача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</c:v>
                </c:pt>
                <c:pt idx="1">
                  <c:v>98</c:v>
                </c:pt>
                <c:pt idx="2">
                  <c:v>98</c:v>
                </c:pt>
                <c:pt idx="3">
                  <c:v>97</c:v>
                </c:pt>
                <c:pt idx="4">
                  <c:v>96</c:v>
                </c:pt>
                <c:pt idx="5">
                  <c:v>96</c:v>
                </c:pt>
                <c:pt idx="6">
                  <c:v>95</c:v>
                </c:pt>
                <c:pt idx="7">
                  <c:v>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5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3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Психиатр видит пациента раз в несколько недель, а всё важное происходит между приёмами. «Клинический компас» показывает врачу эту часть жизни пациента: самочувствие, анкеты, приём препаратов. При этом решение всегда остаётся за врачом. Мы команда «Шаг вперёд» из Казанского медицинского университета: четыре медика и разработчик.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Психиатр видит пациента раз в несколько недель и узнаёт только то, что тот вспомнил. Пациент к приёму многое забывает и легко бросает лечение. Это не редкая история: по данным ВОЗ, психическими расстройствами страдает больше миллиарда человек, и большинство случаев приходится на тревогу и депрессию. Главное число справа: когда состояние регулярно измеряют между приёмами, ремиссия наступает намного чаще. Это мы и делаем удобным.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простое: одна история пациента от приёма до приёма. Врач задаёт план, пациент дома отмечает самочувствие, анкеты и таблетки, перед следующим приёмом врач видит сводку и принимает решение. Три правила мы не нарушаем нигде: решает врач, у каждого факта есть источник, а неизвестное показано как неизвестное.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пациента пять разделов, и на каждом экране одно главное действие. У врача путь короткий: список тех, кого нужно проверить, карточка с графиками, сводка к приёму и план. Всё это одна база, поэтому врач и пациент видят одну и ту же запись, каждый в своём объёме.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работающий кабинет врача, не макет. Сверху списка те, у кого есть что проверить, и рядом конкретная причина: пропуск в плане или записанное нежелательное явление. Справа последние отметки самочувствия. Один щелчок, и врач в нужной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приёмом врач открывает сводку за выбранный период: все записи пациента, кто и когда их сделал, и что осталось неизвестным. Рядом план лечения и календарь препаратов, где видно, в какой день пациент пропустил таблетку.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Пациент чаще всего работает с телефона. Поэтому главное действие видно сразу: отметить самочувствие или заполнить анкету, которую предложил врач. После отправки пациент видит, что запись сохранена на сервере. Баллы анкет пациенту не показываем: это материал для врача, а не самодиагностика.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Анкеты врач предлагает сам. В карточке три шкалы DASS-42 и отдельно PHQ-9 и GAD-7: последнее значение, график и изменение. Мы используем точные русские версии и ничего в них не меняем. Если анкета заполнена не полностью, точка на графике не появляется: пропуск не превращается в ноль.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том, как мы проверяли сервис. 53 этапа разработки, каждый принят с отчётом и проверкой. 588 автотестов, все проходят, и они покрывают 95 процентов кода веб-сервиса. Самая тяжёлая страница врача отвечает примерно за 16 миллисекунд. Отдельно мы проверяем перезапуск без потери данных, права доступа и работу на телефоне.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Скорость и покрытие мы измерили, а не оценили на глаз. Слева время ответа сервера для пяти главных страниц врача: медиана от четырёх до шестнадцати миллисекунд. Справа покрытие тестами ключевых модулей: доступ, препараты, анкеты, сообщения. Всё это проверено на полной вымышленной клинике: восемь пациентов, три врача, шесть недель истории.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двенадцать месяцев. В ноябре переносим сервер на Go и PostgreSQL. В декабре даём сервис трём-пяти психиатрам на тестовых историях и меряем удобство. В первом квартале добавляем модуль тревожных признаков, о нём следующий слайд. Затем пилот в клинике, документы для регистрации и подключение к медицинским системам.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Следующий большой шаг — система, которая сама замечает тревожные признаки. Она смотрит на анкеты, дневник, пропуски таблеток и сообщения, проверяет их по правилам из клинических рекомендаций и сразу сообщает врачу о серьёзном ухудшении или критическом состоянии. Сервис предложит варианты лечения и дальнейших действий со ссылками на источники, а выбирает и подтверждает врач. Для этого у нас уже есть фундамент: исходные ответы, происхождение каждой записи и подтверждение врачом.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сервис работал с настоящими пациентами, нужны три вещи. Закон: данные о здоровье — особая категория по 152-ФЗ, врачебная тайна по 323-ФЗ, а программа, влияющая на лечение, может потребовать регистрации как медицинское изделие. Технологии: Go, PostgreSQL, хостинг в России. И клиника для пилота. От организаторов и партнёров мы просим площадку для пилота и экспертов для проверки правил.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 пятеро, все из Казанского медицинского университета, педиатрический факультет. Капитан — Ильназ Идиятуллин. Марк Галицкий, Мурадисин Мурадисинов и Ильназ Гайнатуллин вместе с капитаном представляют медицинский профиль команды. Азамат Сибгатуллин написал сервис: сервер, базу данных, оба кабинета и автотесты.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организаторам чемпионата, компании Авинейро и партнёрам, Сеченовскому университету, нашим кураторам и трекеру. По QR-коду открывается демо-стенд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вопросов жюри о методике измерений.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вопросов жюри об источниках.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Клинический компас: врач за минуту видит, что изменилось у пациента между приёмами, а решение всегда остаётся за врачом. Спасибо,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2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31552" y="36576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Клинический компас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3737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«Шаг вперёд» · Клинический компас · кейс-чемпионат Авинейро · 2026</a:t>
            </a: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498080" y="502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2440" y="566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ПАЦИЕНТА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8732520" y="1143000"/>
            <a:ext cx="2249424" cy="4697671"/>
          </a:xfrm>
          <a:prstGeom prst="roundRect">
            <a:avLst>
              <a:gd name="adj" fmla="val 6504"/>
            </a:avLst>
          </a:prstGeom>
          <a:solidFill>
            <a:srgbClr val="16252B"/>
          </a:solidFill>
          <a:ln w="12700">
            <a:solidFill>
              <a:srgbClr val="162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6" name="Image 1" descr="/Users/azamatsibgatullin/Documents/HAC/deliverables/presentation/assets/patient-toda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72" y="1216152"/>
            <a:ext cx="2103120" cy="45513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0" y="1417320"/>
            <a:ext cx="347472" cy="347472"/>
          </a:xfrm>
          <a:prstGeom prst="ellipse">
            <a:avLst/>
          </a:prstGeom>
          <a:solidFill>
            <a:srgbClr val="1B4A51"/>
          </a:solidFill>
          <a:ln w="12700">
            <a:solidFill>
              <a:srgbClr val="1B4A5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819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0756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задаёт план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498080" y="2496312"/>
            <a:ext cx="347472" cy="347472"/>
          </a:xfrm>
          <a:prstGeom prst="ellipse">
            <a:avLst/>
          </a:prstGeom>
          <a:solidFill>
            <a:srgbClr val="1B4A51"/>
          </a:solidFill>
          <a:ln w="12700">
            <a:solidFill>
              <a:srgbClr val="1B4A5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9808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8986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31546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дневник, анкеты, таблетки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498080" y="3575304"/>
            <a:ext cx="347472" cy="347472"/>
          </a:xfrm>
          <a:prstGeom prst="ellipse">
            <a:avLst/>
          </a:prstGeom>
          <a:solidFill>
            <a:srgbClr val="1B4A51"/>
          </a:solidFill>
          <a:ln w="12700">
            <a:solidFill>
              <a:srgbClr val="1B4A5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42336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за период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498080" y="4654296"/>
            <a:ext cx="347472" cy="34747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9808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5056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53126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подтверждает врач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" y="384048"/>
            <a:ext cx="478779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84048"/>
            <a:ext cx="47877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КЕЙС-ЧЕМПИОНАТ АВИНЕЙРО · ПРЕДЗАЩИТА И ДЕМО-ДЕНЬ</a:t>
            </a:r>
            <a:endParaRPr lang="en-US" sz="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658368" cy="65836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371600" y="98755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Клинический компас</a:t>
            </a:r>
            <a:endParaRPr lang="en-US" sz="40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20116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 видит, как пациент живёт между приёмами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Веб-сервис для психиатра и пациента с тревогой и депрессией: дневник самочувствия, анкеты DASS-42, PHQ-9 и GAD-7, календарь препаратов и план лечения, который подтверждает врач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548640" y="416052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31520" y="42062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 </a:t>
            </a:r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«Клинический компас: инновационные решения для диагностики и ведения пациентов с тревогой и депрессией»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48640" y="5029200"/>
            <a:ext cx="530352" cy="530352"/>
          </a:xfrm>
          <a:prstGeom prst="ellipse">
            <a:avLst/>
          </a:prstGeom>
          <a:solidFill>
            <a:srgbClr val="D982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4864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1005840" y="5029200"/>
            <a:ext cx="530352" cy="530352"/>
          </a:xfrm>
          <a:prstGeom prst="ellipse">
            <a:avLst/>
          </a:prstGeom>
          <a:solidFill>
            <a:srgbClr val="123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00584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463040" y="5029200"/>
            <a:ext cx="530352" cy="530352"/>
          </a:xfrm>
          <a:prstGeom prst="ellipse">
            <a:avLst/>
          </a:prstGeom>
          <a:solidFill>
            <a:srgbClr val="123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46304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МГ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1920240" y="5029200"/>
            <a:ext cx="530352" cy="530352"/>
          </a:xfrm>
          <a:prstGeom prst="ellipse">
            <a:avLst/>
          </a:prstGeom>
          <a:solidFill>
            <a:srgbClr val="123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92024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ММ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2377440" y="5029200"/>
            <a:ext cx="530352" cy="530352"/>
          </a:xfrm>
          <a:prstGeom prst="ellipse">
            <a:avLst/>
          </a:prstGeom>
          <a:solidFill>
            <a:srgbClr val="123A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237744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3063240" y="5001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«Шаг вперёд»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3063240" y="5303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— Ильназ Идиятуллин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5833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ФГБОУ ВО «Казанский государственный медицинский университет» Минздрава России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Педиатрический факультет · Казань, октябрь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057046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70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 приёмами врач не видит, как живёт пациент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31536" cy="2743200"/>
          </a:xfrm>
          <a:prstGeom prst="roundRect">
            <a:avLst>
              <a:gd name="adj" fmla="val 2667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1921337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7830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Психиатр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5146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приёме узнаёт только то, что пациент вспомнил и успел рассказать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081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0815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Ухудшение, побочные эффекты и пропуски таблеток всплывают с опозданием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648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648456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Анкеты на бумаге: динамику приходится сводить вручную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08776" y="1572768"/>
            <a:ext cx="5431536" cy="2743200"/>
          </a:xfrm>
          <a:prstGeom prst="roundRect">
            <a:avLst>
              <a:gd name="adj" fmla="val 2667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83096" y="1783080"/>
            <a:ext cx="512064" cy="512064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53" y="1921337"/>
            <a:ext cx="235549" cy="23554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123176" y="17830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Пациент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528816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5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6986016" y="25146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две недели не помнит, как спал и что чувствовал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528816" y="3081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5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986016" y="30815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Бросает лечение, когда не видит эффекта или боится побочных действий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528816" y="3648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A5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986016" y="3648456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знает, можно ли написать врачу и дошло ли сообщение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45537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 млрд</a:t>
            </a:r>
            <a:endParaRPr lang="en-US" sz="28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51206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людей в мире живут с психическими расстройствами; тревога и депрессия — больше двух третей случаев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733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ВОЗ, 2025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4297680" y="45537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 и 14 %</a:t>
            </a:r>
            <a:endParaRPr lang="en-US" sz="2800" dirty="0"/>
          </a:p>
        </p:txBody>
      </p:sp>
      <p:sp>
        <p:nvSpPr>
          <p:cNvPr id="29" name="Text 25"/>
          <p:cNvSpPr txBox="1"/>
          <p:nvPr/>
        </p:nvSpPr>
        <p:spPr>
          <a:xfrm>
            <a:off x="4297680" y="51206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Москвы с признаками тревоги и депрессии по скринингу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297680" y="5733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Psychiatricum, 2024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8046720" y="45537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73,8 % vs 28,8 %</a:t>
            </a:r>
            <a:endParaRPr lang="en-US" sz="2800" dirty="0"/>
          </a:p>
        </p:txBody>
      </p:sp>
      <p:sp>
        <p:nvSpPr>
          <p:cNvPr id="32" name="Text 28"/>
          <p:cNvSpPr txBox="1"/>
          <p:nvPr/>
        </p:nvSpPr>
        <p:spPr>
          <a:xfrm>
            <a:off x="8046720" y="51206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ремиссия при регулярных замерах между приёмами против обычного ведения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8046720" y="5733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al., Am J Psychiatry, 2015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6377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63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история пациента от приёма до приёма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83080" y="2148840"/>
            <a:ext cx="2926080" cy="2926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3DEDB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10896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16936" y="1819656"/>
            <a:ext cx="658368" cy="658368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695" y="1997415"/>
            <a:ext cx="302849" cy="3028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94176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Приём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694176" y="20756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фиксирует план и назначения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79976" y="3282696"/>
            <a:ext cx="658368" cy="658368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35" y="3460455"/>
            <a:ext cx="302849" cy="3028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4032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Дома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703320" y="43068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дневник, анкеты и отметки о таблетках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916936" y="4745736"/>
            <a:ext cx="658368" cy="658368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695" y="4923495"/>
            <a:ext cx="302849" cy="3028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94176" y="4727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Сводка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3694176" y="50017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приёмом врач видит изменения за период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453896" y="3282696"/>
            <a:ext cx="658368" cy="6583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1655" y="3460455"/>
            <a:ext cx="302849" cy="3028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77240" y="4032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Решение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" y="43068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подтверждает, пациент сразу видит план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537960" y="1627632"/>
            <a:ext cx="5102352" cy="1298448"/>
          </a:xfrm>
          <a:prstGeom prst="roundRect">
            <a:avLst>
              <a:gd name="adj" fmla="val 563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766560" y="187452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817" y="2012777"/>
            <a:ext cx="235549" cy="23554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52360" y="18105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Решает врач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7452360" y="213055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ничего не назначает сам. Назначение, изменение и отмена терапии, направление и новый план действуют только после подтверждения врача.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537960" y="3090672"/>
            <a:ext cx="5102352" cy="1298448"/>
          </a:xfrm>
          <a:prstGeom prst="roundRect">
            <a:avLst>
              <a:gd name="adj" fmla="val 563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66560" y="333756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817" y="3475817"/>
            <a:ext cx="235549" cy="235549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52360" y="3273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факта есть источник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7452360" y="359359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записал, когда и что именно. Из сводки один щелчок до исходной записи пациента.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537960" y="4553712"/>
            <a:ext cx="5102352" cy="1298448"/>
          </a:xfrm>
          <a:prstGeom prst="roundRect">
            <a:avLst>
              <a:gd name="adj" fmla="val 563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766560" y="4800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817" y="4938857"/>
            <a:ext cx="235549" cy="235549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452360" y="47365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Неизвестное видно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452360" y="505663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таблетки и отсутствие отметки показаны по-разному. Пустое поле не выдаётся за «всё хорошо».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03197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031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кабинета на одной базе: дома у пациента и у врача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22759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Пациент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600200" y="169164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83080" y="1892808"/>
            <a:ext cx="365760" cy="3657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830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258568" y="1892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404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действие дня, текущий план и таблетки на сегодня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42232" y="169164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5112" y="1892808"/>
            <a:ext cx="365760" cy="3657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25112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892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Дневник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325112" y="2404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Самочувствие, жалобы, нежелательные явления. Черновик не теряется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84264" y="169164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67144" y="1892808"/>
            <a:ext cx="365760" cy="3657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67144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342632" y="1892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Анкеты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67144" y="2404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DASS-42, PHQ-9 или GAD-7 по предложению врача, квитанция об отправке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226296" y="169164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09176" y="1892808"/>
            <a:ext cx="365760" cy="3657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409176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884664" y="1892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Препараты и связь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409176" y="240487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каждого приёма, даже половины таблетки. Сообщения врачу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62" y="4241902"/>
            <a:ext cx="294437" cy="294437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36576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600200" y="36576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783080" y="3858768"/>
            <a:ext cx="365760" cy="365760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78308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2258568" y="3858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Пациенты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1783080" y="4370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«Нужно проверить» с конкретной причиной и ссылкой на запись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142232" y="36576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325112" y="3858768"/>
            <a:ext cx="365760" cy="365760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32511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4800600" y="3858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Карточка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4325112" y="4370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анкет, исходные ответы, история записей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684264" y="36576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867144" y="3858768"/>
            <a:ext cx="365760" cy="365760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867144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7342632" y="3858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 к приёму</a:t>
            </a:r>
            <a:endParaRPr lang="en-US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6867144" y="4370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за выбранный период на одном экране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9226296" y="3657600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409176" y="3858768"/>
            <a:ext cx="365760" cy="365760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9409176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5"/>
          <p:cNvSpPr txBox="1"/>
          <p:nvPr/>
        </p:nvSpPr>
        <p:spPr>
          <a:xfrm>
            <a:off x="9884664" y="38587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и решения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9409176" y="4370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Назначения и курс действуют после подтверждения врача</a:t>
            </a:r>
            <a:endParaRPr lang="en-US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и компьютер полноценны для обеих ролей: экраны проверены на ширине от 320 до 1440 пикселей.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· ВРАЧ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 сразу видит, кому нужно внимание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42917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E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6" name="Image 0" descr="/Users/azamatsibgatullin/Documents/HAC/deliverables/presentation/assets/doctor-patients-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00200"/>
            <a:ext cx="5705856" cy="42368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691640"/>
            <a:ext cx="438912" cy="43891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1691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6733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Причина рядом с именем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0208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в плане или нежелательное явление, с датой и ссылкой на исходную запись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3063240"/>
            <a:ext cx="438912" cy="43891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30449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Последние отметки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33924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последних дней самочувствия: лучше, без изменений, хуже или не указано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03720" y="4434840"/>
            <a:ext cx="438912" cy="43891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4434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441655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режима списка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47640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пациенты» и «Нужно проверить», поиск по имени, коду и словам из записей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Снимки работающего сервиса от 23.10.2026. Все пациенты, врачи и препараты в демонстрации вымышленные.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992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· ВРАЧ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 приёмом всё за период собрано на одном экране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257800" cy="3917061"/>
          </a:xfrm>
          <a:prstGeom prst="rect">
            <a:avLst/>
          </a:prstGeom>
          <a:solidFill>
            <a:srgbClr val="FFFFFF"/>
          </a:solidFill>
          <a:ln w="9525">
            <a:solidFill>
              <a:srgbClr val="D3DE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6" name="Image 0" descr="/Users/azamatsibgatullin/Documents/HAC/deliverables/presentation/assets/doctor-followup-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00200"/>
            <a:ext cx="5202936" cy="38621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599557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Сводка к приёму  </a:t>
            </a:r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за период: автор, время, неизвестное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85255" y="1572768"/>
            <a:ext cx="5257800" cy="3917061"/>
          </a:xfrm>
          <a:prstGeom prst="rect">
            <a:avLst/>
          </a:prstGeom>
          <a:solidFill>
            <a:srgbClr val="FFFFFF"/>
          </a:solidFill>
          <a:ln w="9525">
            <a:solidFill>
              <a:srgbClr val="D3DE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9" name="Image 1" descr="/Users/azamatsibgatullin/Documents/HAC/deliverables/presentation/assets/doctor-plan-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87" y="1600200"/>
            <a:ext cx="5202936" cy="386219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85255" y="5599557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и решения  </a:t>
            </a:r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с подтверждением врача и календарь препаратов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Снимки работающего сервиса от 23.10.2026. Все пациенты, врачи и препараты в демонстрации вымышленные.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989734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989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· ПАЦИЕНТ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Пациенту достаточно телефона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733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главное действие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9842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экране сразу видно, что сделать сейчас, без прокрутки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12064" cy="512064"/>
          </a:xfrm>
          <a:prstGeom prst="ellipse">
            <a:avLst/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7" y="320149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дошла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3558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видит время сохранения на сервере и квитанцию об анкете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434840"/>
            <a:ext cx="512064" cy="512064"/>
          </a:xfrm>
          <a:prstGeom prst="ellipse">
            <a:avLst/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457309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4416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Баллы видит врач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4727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 получает квитанцию, а суммы и графики анкет остаются у врача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886200" y="1554480"/>
            <a:ext cx="1847088" cy="3826975"/>
          </a:xfrm>
          <a:prstGeom prst="roundRect">
            <a:avLst>
              <a:gd name="adj" fmla="val 7921"/>
            </a:avLst>
          </a:prstGeom>
          <a:solidFill>
            <a:srgbClr val="16252B"/>
          </a:solidFill>
          <a:ln w="12700">
            <a:solidFill>
              <a:srgbClr val="162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18" name="Image 3" descr="/Users/azamatsibgatullin/Documents/HAC/deliverables/presentation/assets/patient-today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1627632"/>
            <a:ext cx="1700784" cy="368067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86200" y="5472895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852160" y="1554480"/>
            <a:ext cx="1847088" cy="3826975"/>
          </a:xfrm>
          <a:prstGeom prst="roundRect">
            <a:avLst>
              <a:gd name="adj" fmla="val 7921"/>
            </a:avLst>
          </a:prstGeom>
          <a:solidFill>
            <a:srgbClr val="16252B"/>
          </a:solidFill>
          <a:ln w="12700">
            <a:solidFill>
              <a:srgbClr val="162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21" name="Image 4" descr="/Users/azamatsibgatullin/Documents/HAC/deliverables/presentation/assets/patient-diar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627632"/>
            <a:ext cx="1700784" cy="368067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52160" y="5472895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Дневник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818120" y="1554480"/>
            <a:ext cx="1847088" cy="3826975"/>
          </a:xfrm>
          <a:prstGeom prst="roundRect">
            <a:avLst>
              <a:gd name="adj" fmla="val 7921"/>
            </a:avLst>
          </a:prstGeom>
          <a:solidFill>
            <a:srgbClr val="16252B"/>
          </a:solidFill>
          <a:ln w="12700">
            <a:solidFill>
              <a:srgbClr val="162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24" name="Image 5" descr="/Users/azamatsibgatullin/Documents/HAC/deliverables/presentation/assets/patient-form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1627632"/>
            <a:ext cx="1700784" cy="3680671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818120" y="5472895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Анкеты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9784080" y="1554480"/>
            <a:ext cx="1847088" cy="3826975"/>
          </a:xfrm>
          <a:prstGeom prst="roundRect">
            <a:avLst>
              <a:gd name="adj" fmla="val 7921"/>
            </a:avLst>
          </a:prstGeom>
          <a:solidFill>
            <a:srgbClr val="16252B"/>
          </a:solidFill>
          <a:ln w="12700">
            <a:solidFill>
              <a:srgbClr val="16252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27" name="Image 6" descr="/Users/azamatsibgatullin/Documents/HAC/deliverables/presentation/assets/patient-plan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7232" y="1627632"/>
            <a:ext cx="1700784" cy="368067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784080" y="5472895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96466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96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· АНКЕТЫ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Динамика анкет видна сразу, ответы под рукой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3488331"/>
          </a:xfrm>
          <a:prstGeom prst="rect">
            <a:avLst/>
          </a:prstGeom>
          <a:solidFill>
            <a:srgbClr val="FFFFFF"/>
          </a:solidFill>
          <a:ln w="9525">
            <a:solidFill>
              <a:srgbClr val="D3DE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2226">
                <a:alpha val="16000"/>
              </a:srgbClr>
            </a:outerShdw>
          </a:effectLst>
        </p:spPr>
      </p:sp>
      <p:pic>
        <p:nvPicPr>
          <p:cNvPr id="6" name="Image 0" descr="/Users/azamatsibgatullin/Documents/HAC/deliverables/presentation/assets/doctor-char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81912"/>
            <a:ext cx="11036808" cy="34334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542696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5303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Точные русские версии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5596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DASS-42 (Фаттахов, Горобец), PHQ-9 и GAD-7 (Золотарева, 2023). Текст, порядок и варианты ответов не меняются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297680" y="5303520"/>
            <a:ext cx="457200" cy="4572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54269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92040" y="5303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Пропуск не равен нулю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5596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Неполная анкета не даёт ложную точку на графике. Каждая версия шкалы в своей серии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46720" y="5303520"/>
            <a:ext cx="457200" cy="4572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4" y="542696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41080" y="5303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Баллы не диагноз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641080" y="5596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Суммы видит только врач, а повтор анкеты врач предлагает в один щелчок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50315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50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ИСПЫТАНИЯ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Технически сервис готов к первым врачам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принятых этапа разработки, каждый с проверкой и отчётом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487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 веб-сервиса покрыто автотестами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81344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181344" y="2487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автотестов, все проходят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97696" y="16002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мс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997696" y="2487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медианное время ответа самой тяжёлой страницы врача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593592" cy="2395728"/>
          </a:xfrm>
          <a:prstGeom prst="roundRect">
            <a:avLst>
              <a:gd name="adj" fmla="val 305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538728"/>
            <a:ext cx="475488" cy="475488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054" y="3667110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35387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Надёжность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1788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Перезапуск сервера без потери данных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копия базы перед каждым изменением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отправка формы не создаёт дублей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0" y="3310128"/>
            <a:ext cx="3593592" cy="2395728"/>
          </a:xfrm>
          <a:prstGeom prst="roundRect">
            <a:avLst>
              <a:gd name="adj" fmla="val 305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3538728"/>
            <a:ext cx="475488" cy="475488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094" y="3667110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66360" y="35387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553712" y="41788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проверок прав и защиты: чужой пациент, подделка запроса, истёкшая сессия, отозванное приглашение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Клинические действия без врача отклоняются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046720" y="3310128"/>
            <a:ext cx="3593592" cy="2395728"/>
          </a:xfrm>
          <a:prstGeom prst="roundRect">
            <a:avLst>
              <a:gd name="adj" fmla="val 305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02752" y="3538728"/>
            <a:ext cx="475488" cy="475488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134" y="3667110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15400" y="35387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Удобство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302752" y="4178808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снимков экрана просмотрено при приёмке этапов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от 320 px и компьютер 1440 px без горизонтальной прокрутки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 23.10.2026: unittest и coverage 7.17. 95 % — код веб-сервиса, по всему пакету вместе с отложенными модулями 89 %. Методика — в приложении.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6377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63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Страницы врача открываются за сотые доли секунды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812280" y="1554480"/>
          <a:ext cx="4828032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87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87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ВЫМЫШЛЕННАЯ КЛИНИКА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74320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пациентов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20624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врача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 истории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самоотчёта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анкеты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0" y="5687568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</a:t>
            </a:r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отметок о препаратах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616659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6166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Двенадцать месяцев: от пилота до работы в клинике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04288"/>
            <a:ext cx="9281160" cy="0"/>
          </a:xfrm>
          <a:prstGeom prst="line">
            <a:avLst/>
          </a:prstGeom>
          <a:noFill/>
          <a:ln w="25400">
            <a:solidFill>
              <a:srgbClr val="D3D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48840"/>
            <a:ext cx="310896" cy="310896"/>
          </a:xfrm>
          <a:prstGeom prst="ellipse">
            <a:avLst/>
          </a:prstGeom>
          <a:solidFill>
            <a:srgbClr val="1F6F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Ноябрь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300380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переписан на Go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нагрузочные тесты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2148840"/>
            <a:ext cx="310896" cy="310896"/>
          </a:xfrm>
          <a:prstGeom prst="ellipse">
            <a:avLst/>
          </a:prstGeom>
          <a:solidFill>
            <a:srgbClr val="1F6F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04872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04872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87752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96" y="3003804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587752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Пилот с врачами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587752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психиатров на тестовых историях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 удобства по шкале SUS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16552" y="2148840"/>
            <a:ext cx="310896" cy="310896"/>
          </a:xfrm>
          <a:prstGeom prst="ellipse">
            <a:avLst/>
          </a:prstGeom>
          <a:solidFill>
            <a:srgbClr val="D982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61104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кв. 2027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61104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43984" y="2880360"/>
            <a:ext cx="457200" cy="4572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3003804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443984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Тревожные признаки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4443984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раннего выявления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проверяют клинические эксперты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272784" y="2148840"/>
            <a:ext cx="310896" cy="310896"/>
          </a:xfrm>
          <a:prstGeom prst="ellipse">
            <a:avLst/>
          </a:prstGeom>
          <a:solidFill>
            <a:srgbClr val="1F6F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17336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кв. 2027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117336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300216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3003804"/>
            <a:ext cx="210312" cy="21031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300216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Клиника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300216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пациентами по согласию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в РФ, 152-ФЗ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129016" y="2148840"/>
            <a:ext cx="310896" cy="310896"/>
          </a:xfrm>
          <a:prstGeom prst="ellipse">
            <a:avLst/>
          </a:prstGeom>
          <a:solidFill>
            <a:srgbClr val="1F6F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973568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кв. 2027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973568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156448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892" y="3003804"/>
            <a:ext cx="210312" cy="21031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156448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8156448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для Росздравнадзора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Клиническая оценка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9985248" y="2148840"/>
            <a:ext cx="310896" cy="310896"/>
          </a:xfrm>
          <a:prstGeom prst="ellipse">
            <a:avLst/>
          </a:prstGeom>
          <a:solidFill>
            <a:srgbClr val="1F6F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9829800" y="16642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кв. 2027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9829800" y="269748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012680" y="2880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124" y="3003804"/>
            <a:ext cx="210312" cy="21031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0012680" y="3429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</a:t>
            </a:r>
            <a:endParaRPr lang="en-US" sz="1400" dirty="0"/>
          </a:p>
        </p:txBody>
      </p:sp>
      <p:sp>
        <p:nvSpPr>
          <p:cNvPr id="47" name="Text 39"/>
          <p:cNvSpPr txBox="1"/>
          <p:nvPr/>
        </p:nvSpPr>
        <p:spPr>
          <a:xfrm>
            <a:off x="10012680" y="4023360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медицинским информационным системам клиник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548640" y="5303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Go даёт один исполняемый файл, быструю параллельную обработку уведомлений и простое развёртывание в клинике.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03197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8031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МОДУЛЬ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Тревожные признаки сразу попадают к врачу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0240"/>
            <a:ext cx="530352" cy="53035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003" y="2063435"/>
            <a:ext cx="243962" cy="2439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587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Сигналы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154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анкет, записи дневника, пропуски препаратов, сообщения пациента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88036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07208" y="169164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08376" y="1920240"/>
            <a:ext cx="530352" cy="53035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71" y="2063435"/>
            <a:ext cx="243962" cy="2439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08376" y="2587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008376" y="3154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из клинических рекомендаций и проверенных шкал, у каждого правила источник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880360"/>
            <a:ext cx="164592" cy="16459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65776" y="169164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266944" y="1920240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139" y="2063435"/>
            <a:ext cx="243962" cy="24396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66944" y="2587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Срочное уведомление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5266944" y="3154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сразу получает сигнал с причиной и исходной записью, при молчании — повтор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2880360"/>
            <a:ext cx="164592" cy="16459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24344" y="169164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525512" y="1920240"/>
            <a:ext cx="530352" cy="530352"/>
          </a:xfrm>
          <a:prstGeom prst="ellipse">
            <a:avLst/>
          </a:prstGeom>
          <a:solidFill>
            <a:srgbClr val="1F6F68"/>
          </a:solidFill>
          <a:ln w="12700">
            <a:solidFill>
              <a:srgbClr val="1F6F68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8707" y="2063435"/>
            <a:ext cx="243962" cy="24396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525512" y="2587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Варианты действий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525512" y="3154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предлагает варианты лечения и дальнейших шагов со ссылками на рекомендации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2880360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582912" y="169164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784080" y="1920240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7275" y="2063435"/>
            <a:ext cx="243962" cy="24396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784080" y="25877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врача</a:t>
            </a:r>
            <a:endParaRPr lang="en-US" sz="1400" dirty="0"/>
          </a:p>
        </p:txBody>
      </p:sp>
      <p:sp>
        <p:nvSpPr>
          <p:cNvPr id="33" name="Text 22"/>
          <p:cNvSpPr txBox="1"/>
          <p:nvPr/>
        </p:nvSpPr>
        <p:spPr>
          <a:xfrm>
            <a:off x="9784080" y="315468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выбирает и подтверждает, пациент видит только одобренный план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548640" y="466344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EDB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777240" y="4736592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правила
</a:t>
            </a:r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ответ на 9-й вопрос PHQ-9 — срочное уведомление врачу с исходным ответом пациента и вариантами дальнейших действий</a:t>
            </a:r>
            <a:endParaRPr lang="en-US" sz="1400" dirty="0"/>
          </a:p>
        </p:txBody>
      </p:sp>
      <p:sp>
        <p:nvSpPr>
          <p:cNvPr id="36" name="Shape 25"/>
          <p:cNvSpPr/>
          <p:nvPr/>
        </p:nvSpPr>
        <p:spPr>
          <a:xfrm>
            <a:off x="7452360" y="4663440"/>
            <a:ext cx="4187952" cy="1188720"/>
          </a:xfrm>
          <a:prstGeom prst="roundRect">
            <a:avLst>
              <a:gd name="adj" fmla="val 6154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7680960" y="466344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уже в прототипе: исходные ответы, происхождение каждой записи, подтверждение врача и уведомления с повтором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50315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50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нужно, чтобы сервис заработал в клинике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3593592" cy="3520440"/>
          </a:xfrm>
          <a:prstGeom prst="roundRect">
            <a:avLst>
              <a:gd name="adj" fmla="val 2078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47088"/>
            <a:ext cx="512064" cy="512064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" y="1985345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470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56032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152-ФЗ, ст. 10: данные о здоровье — особая категория, нужно письменное согласие пациента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323-ФЗ, ст. 13: врачебная тайна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для лечения может быть медизделием (323-ФЗ, ст. 38); регистрация в Росздравнадзоре по ПП РФ № 1684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627632"/>
            <a:ext cx="3593592" cy="3520440"/>
          </a:xfrm>
          <a:prstGeom prst="roundRect">
            <a:avLst>
              <a:gd name="adj" fmla="val 2078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1847088"/>
            <a:ext cx="512064" cy="512064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969" y="198534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12080" y="18470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53712" y="256032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на Go и PostgreSQL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в России, резервные копии и мониторинг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медицинскими информационными системами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627632"/>
            <a:ext cx="3593592" cy="3520440"/>
          </a:xfrm>
          <a:prstGeom prst="roundRect">
            <a:avLst>
              <a:gd name="adj" fmla="val 2078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1847088"/>
            <a:ext cx="512064" cy="512064"/>
          </a:xfrm>
          <a:prstGeom prst="ellipse">
            <a:avLst/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09" y="1985345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61120" y="18470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Клиника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2560320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 психиатрами: время подготовки к приёму и удобство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Короткое обучение врача на тестовых историях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Согласие пациента на наблюдение в сервисе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349240"/>
            <a:ext cx="1054577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Просим у организаторов и партнёров: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площадку для пилота и клинических экспертов, которые проверят правила тревожных признаков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63778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63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Команда «Шаг вперёд»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075688" cy="3520440"/>
          </a:xfrm>
          <a:prstGeom prst="roundRect">
            <a:avLst>
              <a:gd name="adj" fmla="val 3524"/>
            </a:avLst>
          </a:prstGeom>
          <a:solidFill>
            <a:srgbClr val="123A40"/>
          </a:solidFill>
          <a:ln w="12700">
            <a:solidFill>
              <a:srgbClr val="12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01952"/>
            <a:ext cx="914400" cy="91440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44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Идиятуллин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9242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Ильназ Алмазович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FBE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· МЕДИК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03322" y="1627632"/>
            <a:ext cx="2075688" cy="3520440"/>
          </a:xfrm>
          <a:prstGeom prst="roundRect">
            <a:avLst>
              <a:gd name="adj" fmla="val 35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1922" y="1901952"/>
            <a:ext cx="914400" cy="9144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31922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031922" y="3044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Сибгатуллин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31922" y="339242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Азамат Ильдарович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31922" y="40233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СПЕЦИАЛИСТ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031922" y="4370832"/>
            <a:ext cx="170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Сервер, база данных, кабинеты врача и пациента, автотесты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58004" y="1627632"/>
            <a:ext cx="2075688" cy="3520440"/>
          </a:xfrm>
          <a:prstGeom prst="roundRect">
            <a:avLst>
              <a:gd name="adj" fmla="val 35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86604" y="1901952"/>
            <a:ext cx="914400" cy="9144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6604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МГ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286604" y="3044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Галицкий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86604" y="339242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 Игоревич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86604" y="40233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2685" y="1627632"/>
            <a:ext cx="2075688" cy="3520440"/>
          </a:xfrm>
          <a:prstGeom prst="roundRect">
            <a:avLst>
              <a:gd name="adj" fmla="val 35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1285" y="1901952"/>
            <a:ext cx="914400" cy="9144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1285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ММ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541285" y="3044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Мурадисинов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541285" y="339242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Мурадисин Идрисович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41285" y="40233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67367" y="1627632"/>
            <a:ext cx="2075688" cy="3520440"/>
          </a:xfrm>
          <a:prstGeom prst="roundRect">
            <a:avLst>
              <a:gd name="adj" fmla="val 352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95967" y="1901952"/>
            <a:ext cx="914400" cy="914400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95967" y="1901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795967" y="304495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Гайнатуллин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95967" y="3392424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Ильназ Рамилевич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795967" y="40233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376672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" y="544982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5573268"/>
            <a:ext cx="210312" cy="210312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325880" y="5376672"/>
            <a:ext cx="101800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ФГБОУ ВО «Казанский государственный медицинский университет» Минздрава России</a:t>
            </a:r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педиатрический факультет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523390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523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БЛАГОДАРНОСТИ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тем, кто помогал нам в работе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798991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2763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Организаторам кейс-чемпионата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476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Авинейро и партнёрам за задачу, которая действительно нужна врачам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877983"/>
            <a:ext cx="260787" cy="260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70662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Сеченовскому университету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02666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соорганизатору чемпионата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803904"/>
            <a:ext cx="566928" cy="566928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3956975"/>
            <a:ext cx="260787" cy="26078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78561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Кураторам и трекеру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410565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встречи, вопросы и обратную связь по ходу работы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566928" cy="566928"/>
          </a:xfrm>
          <a:prstGeom prst="ellipse">
            <a:avLst/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5035967"/>
            <a:ext cx="260787" cy="26078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48646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Экспертам и жюри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325880" y="51846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внимание к проекту и будущие замечания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818120" y="1627632"/>
            <a:ext cx="3822192" cy="4343400"/>
          </a:xfrm>
          <a:prstGeom prst="roundRect">
            <a:avLst>
              <a:gd name="adj" fmla="val 1914"/>
            </a:avLst>
          </a:prstGeom>
          <a:solidFill>
            <a:srgbClr val="F1F5F4"/>
          </a:solidFill>
          <a:ln w="12700">
            <a:solidFill>
              <a:srgbClr val="F1F5F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85048" y="1828800"/>
            <a:ext cx="26974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9050">
            <a:solidFill>
              <a:srgbClr val="8FB9B2"/>
            </a:solidFill>
            <a:prstDash val="dash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724912"/>
            <a:ext cx="914400" cy="9144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01000" y="46451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QR-код демо-стенда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001000" y="4983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появится после публикации стенда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69541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2695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· МЕТОДИКА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получили цифры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7251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измерено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Автотесты приложения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518, все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-m unittest discover -s apps/tests, 23.10.2026, 181 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Автотесты инструментов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 все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-m unittest discover -s tools -p 'test_*.py'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Покрытие кода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95 % / 89 %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7.17 при прогоне 518 тестов; 95 % — код веб-сервиса (3 282 оператора), 89 % — весь пакет apps/compass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ответа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медиана 3,6–15,5 мс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последовательных GET-запросов врача на страницу к локальному серверу Flask на копии рабочей базы, MacBook на Apple Silicon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Принятые этапы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теги slice/* в Git с отчётом приёмки, 18–23.10.2026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Проверки защиты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тесты test_access.py (17) и test_security.py (10): роли, связи, CSRF, сессии, приглашения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Просмотр экранов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 снимок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снимки экранов в evidence/ за все этапы, ширина 320–1440 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Демо-данные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пациентов, 3 врача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рабочая база: 56 самоотчётов, 72 анкеты, 250 отметок о препаратах; все люди вымышленные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362810" cy="256032"/>
          </a:xfrm>
          <a:prstGeom prst="roundRect">
            <a:avLst>
              <a:gd name="adj" fmla="val 50000"/>
            </a:avLst>
          </a:prstGeom>
          <a:solidFill>
            <a:srgbClr val="DCEBE8"/>
          </a:solidFill>
          <a:ln w="12700">
            <a:solidFill>
              <a:srgbClr val="DCEBE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2362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· ИСТОЧНИКИ</a:t>
            </a:r>
            <a:endParaRPr lang="en-US" sz="9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548640" y="73152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 цифр и норм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0020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 / ПАОЗ. Over a billion people living with mental health conditions, 02.09.2025. paho.org/en/news/2-9-2025-over-billion-people-living-mental-health-conditions-services-require-urgent-scale-up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122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1226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Psychiatricum, 2024: распространённость тревоги и депрессии в Москве по скринингу. consortium-psy.com/jour/article/view/15487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24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24328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T. et al. Measurement-based care versus standard care for major depression. Am J Psychiatry, 2015; 172(10): 1004–1013. doi:10.1176/appi.ajp.2015.14050652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363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136392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Fortney J.C. et al. A Tipping Point for Measurement-Based Care. Psychiatric Services, 2017; 68(2): 179–188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48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648456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№ 152-ФЗ «О персональных данных», ст. 10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60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160520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№ 323-ФЗ «Об основах охраны здоровья граждан в РФ», ст. 13 и ст. 38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6725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672584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Постановление Правительства РФ от 30.11.2024 № 1684 «Об утверждении Правил государственной регистрации медицинских изделий» (действует с 01.03.2025)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8464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184648"/>
            <a:ext cx="10682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Золотарева А.А., 2023: русские версии PHQ-9 и GAD-7; Фаттахов, Горобец: русская версия DASS-42 (источники и права — evidence/S34/research.md, docs/clinical/scales-rights.md)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1908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54480" y="640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Клинический компас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Врач за минуту видит, что изменилось у пациента между приёмами. Решение всегда остаётся за врачом.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588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кода сервиса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кабинета: врач и пациент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проверенные анкеты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440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BE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 Готовы ответить на вопросы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«Шаг вперёд» · Казанский ГМУ · кейс-чемпионат Авинейро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inicheskiy Kompas">
  <a:themeElements>
    <a:clrScheme name="Klinicheskiy Kompas">
      <a:dk1>
        <a:srgbClr val="16252B"/>
      </a:dk1>
      <a:lt1>
        <a:srgbClr val="FFFFFF"/>
      </a:lt1>
      <a:dk2>
        <a:srgbClr val="123A40"/>
      </a:dk2>
      <a:lt2>
        <a:srgbClr val="F1F5F4"/>
      </a:lt2>
      <a:accent1>
        <a:srgbClr val="1F6F68"/>
      </a:accent1>
      <a:accent2>
        <a:srgbClr val="D9822B"/>
      </a:accent2>
      <a:accent3>
        <a:srgbClr val="2E7D4F"/>
      </a:accent3>
      <a:accent4>
        <a:srgbClr val="B3412F"/>
      </a:accent4>
      <a:accent5>
        <a:srgbClr val="5A6B71"/>
      </a:accent5>
      <a:accent6>
        <a:srgbClr val="8FB9B2"/>
      </a:accent6>
      <a:hlink>
        <a:srgbClr val="1F6F68"/>
      </a:hlink>
      <a:folHlink>
        <a:srgbClr val="5A6B71"/>
      </a:folHlink>
    </a:clrScheme>
    <a:fontScheme name="Klinicheskiy Komp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Команда «Клинический компас»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Клинический компас — предзащита и демо-день</dc:title>
  <dc:subject>PptxGenJS Presentation</dc:subject>
  <dc:creator>Азамат Сибгатуллин и команда</dc:creator>
  <cp:lastModifiedBy>Азамат Сибгатуллин и команда</cp:lastModifiedBy>
  <cp:revision>1</cp:revision>
  <dcterms:created xsi:type="dcterms:W3CDTF">2026-10-23T14:04:01Z</dcterms:created>
  <dcterms:modified xsi:type="dcterms:W3CDTF">2026-10-23T14:04:01Z</dcterms:modified>
</cp:coreProperties>
</file>