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dde3dd85-75c9-f4d7-4dc7-18fe6ca94576}">
          <p14:sldIdLst>
            <p14:sldId id="256"/>
          </p14:sldIdLst>
        </p14:section>
        <p14:section name="1. Идея" id="{01feb67c-2a85-d85f-25e6-d41d8559d876}">
          <p14:sldIdLst>
            <p14:sldId id="257"/>
          </p14:sldIdLst>
        </p14:section>
        <p14:section name="2. Прототип" id="{23b2b625-1b5e-00d8-f707-624fdaf01eaa}">
          <p14:sldIdLst>
            <p14:sldId id="258"/>
            <p14:sldId id="259"/>
            <p14:sldId id="260"/>
          </p14:sldIdLst>
        </p14:section>
        <p14:section name="3. Испытания" id="{ef7c14ef-9a07-3eae-c492-0994c2341d03}">
          <p14:sldIdLst>
            <p14:sldId id="261"/>
          </p14:sldIdLst>
        </p14:section>
        <p14:section name="4. Планы" id="{14676e95-0876-a5f7-0d91-79be673976a9}">
          <p14:sldIdLst>
            <p14:sldId id="262"/>
            <p14:sldId id="263"/>
          </p14:sldIdLst>
        </p14:section>
        <p14:section name="5. Команда" id="{88031d2d-9b07-8282-5a12-15b6998fe238}">
          <p14:sldIdLst>
            <p14:sldId id="264"/>
            <p14:sldId id="265"/>
          </p14:sldIdLst>
        </p14:section>
        <p14:section name="Приложение" id="{4eb11ae6-8396-171b-a800-f24ba2b8bcdd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Мы из Казанского медуниверситета, проект «Шаг вперёд». Это сервис, который связывает психиатра и пациента в те недели, когда они не видятся.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Депрессией в мире живут около двухсот восьмидесяти миллионов человек. Лечение идёт месяцами, а врач видит пациента раз в несколько недель. Что было со сном, пил ли пациент таблетки, стало ли хуже после смены дозы — всё это врач узнаёт по памяти. Мы собрали эти недели в одну цепочку. Врач утверждает план, пациент дома отмечает самочувствие и таблетки и заполняет анкеты, а к следующему приёму врач видит, что изменилось. Решает всегда врач.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кабинет врача. Сверху пациенты, у которых есть что проверить, и рядом конкретная причина: пропущенный препарат, нежелательное явление. Каждая причина ведёт к записи, из которой она взялась. Пропуск и отсутствие отметки мы показываем по-разному, клинически это разные вещи.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Кабинет пациента сделан для человека, которому сейчас тяжело. Одна большая кнопка «Отметить самочувствие», календарь таблеток, ответ прямо под пунктом плана. Анкеты в точных русских версиях, баллы видит только врач. Всё работает в браузере телефона, ставить ничего не нужно.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Чем мы отличаемся от бумажного дневника и переписки? У каждого факта есть автор и время, и можно открыть исходную запись. Пропуск виден как пропуск, а не как «всё хорошо». Анкеты сразу складываются в графики. И данные не уходят во внешние сервисы.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про испытания. В проекте 976 автотестов, проходят все до одного. Внешних библиотек всего восемь, данные никуда не уходят. Разработка шла 102 этапами, и каждый принимали только после проверки. Отдельно проверены доступ по ролям, защита форм и безопасный повтор отправки.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— то, ради чего мы собирали эти данные. Сервис будет сам замечать тревожные признаки в анкетах, дневнике и записях приёма и сразу сообщать лечащему врачу. Он предложит гипотезу диагноза с альтернативами и проект лечения. Применится это только после решения врача. Серверная часть уже прошла 16 этапов из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на год. До конца года доводим модуль тревожных признаков. В начале двадцать седьмого переносим сервер на Go, весной выходим в пилот к психиатрам. Параллельно готовим регистрацию как медицинского изделия и работу с данными по 152-ФЗ. Нам нужны клиническая база и эксперты.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Нас пятеро: четыре медика и разработчик. Спасибо организаторам, трекерам и экспертам чемпионата.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QR-кодам — код и живая демонстрация. Спасибо!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вопросов жюри, не рассказывается.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Шаг вперёд · кейс-чемпионат «Клинический компас»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C9BE"/>
                </a:solidFill>
              </a:rPr>
              <a:t>КЕЙС-ЧЕМПИОНАТ «КЛИНИЧЕСКИЙ КОМПАС» · 2026</a:t>
            </a:r>
            <a:endParaRPr lang="en-US" sz="1200" dirty="0"/>
          </a:p>
        </p:txBody>
      </p:sp>
      <p:sp>
        <p:nvSpPr>
          <p:cNvPr id="3" name="Название"/>
          <p:cNvSpPr txBox="1"/>
          <p:nvPr/>
        </p:nvSpPr>
        <p:spPr>
          <a:xfrm>
            <a:off x="640080" y="1417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вперёд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3EEEA"/>
                </a:solidFill>
              </a:rPr>
              <a:t>Психиатр и пациент между приёмами видят одну историю болезни. Решение всегда за врачом.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74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Капитан — Идиятуллин Ильназ Алмазович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A8C9BE"/>
                </a:solidFill>
              </a:rPr>
              <a:t>ФГБОУ ВО «Казанский ГМУ» Минздрава России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A8C9BE"/>
                </a:solidFill>
              </a:rPr>
              <a:t>Педиатрический факультет · Казань, 2026</a:t>
            </a:r>
            <a:endParaRPr lang="en-US" sz="1400" dirty="0"/>
          </a:p>
        </p:txBody>
      </p:sp>
      <p:sp>
        <p:nvSpPr>
          <p:cNvPr id="6" name="Рамка Кабинет врача: список пациентов"/>
          <p:cNvSpPr/>
          <p:nvPr/>
        </p:nvSpPr>
        <p:spPr>
          <a:xfrm>
            <a:off x="6172200" y="868680"/>
            <a:ext cx="5440680" cy="3376422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pic>
        <p:nvPicPr>
          <p:cNvPr id="7" name="Кабинет врача: список пациентов" descr="Кабинет врача: список пациент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868680"/>
            <a:ext cx="5440680" cy="3376422"/>
          </a:xfrm>
          <a:prstGeom prst="rect">
            <a:avLst/>
          </a:prstGeom>
        </p:spPr>
      </p:pic>
      <p:sp>
        <p:nvSpPr>
          <p:cNvPr id="8" name="Корпус телефона Кабинет пациента: Сегодня"/>
          <p:cNvSpPr/>
          <p:nvPr/>
        </p:nvSpPr>
        <p:spPr>
          <a:xfrm>
            <a:off x="5559552" y="2039112"/>
            <a:ext cx="2093976" cy="4271655"/>
          </a:xfrm>
          <a:prstGeom prst="roundRect">
            <a:avLst>
              <a:gd name="adj" fmla="val 9607"/>
            </a:avLst>
          </a:prstGeom>
          <a:solidFill>
            <a:srgbClr val="1E2328"/>
          </a:solidFill>
          <a:ln w="12700">
            <a:solidFill>
              <a:srgbClr val="3A4A45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Кабинет пациента: Сегодня" descr="Кабинет пациента: Сегодн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03120"/>
            <a:ext cx="1965960" cy="41436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Между приёмами проходят недели, и врач узнаёт о них по памяти пациента</a:t>
            </a:r>
            <a:endParaRPr lang="en-US" sz="2800" dirty="0"/>
          </a:p>
        </p:txBody>
      </p:sp>
      <p:sp>
        <p:nvSpPr>
          <p:cNvPr id="3" name="Метка раздела"/>
          <p:cNvSpPr/>
          <p:nvPr/>
        </p:nvSpPr>
        <p:spPr>
          <a:xfrm>
            <a:off x="548640" y="347472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>
            <a:solidFill>
              <a:srgbClr val="E7F2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76B5B"/>
                </a:solidFill>
              </a:rPr>
              <a:t>1 · ИДЕЯ</a:t>
            </a:r>
            <a:endParaRPr lang="en-US" sz="1100" dirty="0"/>
          </a:p>
        </p:txBody>
      </p:sp>
      <p:sp>
        <p:nvSpPr>
          <p:cNvPr id="4" name="Число ВОЗ"/>
          <p:cNvSpPr txBox="1"/>
          <p:nvPr/>
        </p:nvSpPr>
        <p:spPr>
          <a:xfrm>
            <a:off x="548640" y="1874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 млн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человек в мире живут с депрессией (ВОЗ, 2023). Лечение длится месяцами, а врач видит пациента раз в несколько недель.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5191D"/>
                </a:solidFill>
              </a:rPr>
              <a:t>Что сейчас теряется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6616B"/>
                </a:solidFill>
              </a:rPr>
              <a:t>сон, побочные эффекты и пропуски таблеток вспоминают задним числом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6616B"/>
                </a:solidFill>
              </a:rPr>
              <a:t>анкеты остаются на бумаге, динамики не видно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6616B"/>
                </a:solidFill>
              </a:rPr>
              <a:t>переписка в мессенджере не связана с планом лечения</a:t>
            </a:r>
            <a:endParaRPr lang="en-US" sz="1500" dirty="0"/>
          </a:p>
        </p:txBody>
      </p:sp>
      <p:sp>
        <p:nvSpPr>
          <p:cNvPr id="7" name="Фон решения"/>
          <p:cNvSpPr/>
          <p:nvPr/>
        </p:nvSpPr>
        <p:spPr>
          <a:xfrm>
            <a:off x="6172200" y="1874520"/>
            <a:ext cx="5470855" cy="3977640"/>
          </a:xfrm>
          <a:prstGeom prst="roundRect">
            <a:avLst>
              <a:gd name="adj" fmla="val 2759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Наше решение</a:t>
            </a:r>
            <a:endParaRPr lang="en-US" sz="1300" dirty="0"/>
          </a:p>
        </p:txBody>
      </p:sp>
      <p:sp>
        <p:nvSpPr>
          <p:cNvPr id="9" name="Линия пути"/>
          <p:cNvSpPr/>
          <p:nvPr/>
        </p:nvSpPr>
        <p:spPr>
          <a:xfrm>
            <a:off x="6684264" y="2798064"/>
            <a:ext cx="0" cy="2359152"/>
          </a:xfrm>
          <a:prstGeom prst="line">
            <a:avLst/>
          </a:prstGeom>
          <a:noFill/>
          <a:ln w="19050">
            <a:solidFill>
              <a:srgbClr val="9FC4B9"/>
            </a:solidFill>
            <a:prstDash val="solid"/>
          </a:ln>
        </p:spPr>
      </p:sp>
      <p:sp>
        <p:nvSpPr>
          <p:cNvPr id="10" name="Номер 1"/>
          <p:cNvSpPr/>
          <p:nvPr/>
        </p:nvSpPr>
        <p:spPr>
          <a:xfrm>
            <a:off x="6492240" y="2606040"/>
            <a:ext cx="384048" cy="384048"/>
          </a:xfrm>
          <a:prstGeom prst="ellipse">
            <a:avLst/>
          </a:prstGeom>
          <a:solidFill>
            <a:srgbClr val="176B5B"/>
          </a:solidFill>
          <a:ln w="38100">
            <a:solidFill>
              <a:srgbClr val="F3F6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587752"/>
            <a:ext cx="4282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91D"/>
                </a:solidFill>
              </a:rPr>
              <a:t>Врач на приёме </a:t>
            </a:r>
            <a:pPr indent="0" marL="0">
              <a:buNone/>
            </a:pPr>
            <a:r>
              <a:rPr lang="en-US" sz="1500" dirty="0">
                <a:solidFill>
                  <a:srgbClr val="15191D"/>
                </a:solidFill>
              </a:rPr>
              <a:t>утверждает план и расписание препаратов</a:t>
            </a:r>
            <a:endParaRPr lang="en-US" sz="1500" dirty="0"/>
          </a:p>
        </p:txBody>
      </p:sp>
      <p:sp>
        <p:nvSpPr>
          <p:cNvPr id="12" name="Номер 2"/>
          <p:cNvSpPr/>
          <p:nvPr/>
        </p:nvSpPr>
        <p:spPr>
          <a:xfrm>
            <a:off x="6492240" y="3392424"/>
            <a:ext cx="384048" cy="384048"/>
          </a:xfrm>
          <a:prstGeom prst="ellipse">
            <a:avLst/>
          </a:prstGeom>
          <a:solidFill>
            <a:srgbClr val="176B5B"/>
          </a:solidFill>
          <a:ln w="38100">
            <a:solidFill>
              <a:srgbClr val="F3F6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3374136"/>
            <a:ext cx="4282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91D"/>
                </a:solidFill>
              </a:rPr>
              <a:t>Пациент дома </a:t>
            </a:r>
            <a:pPr indent="0" marL="0">
              <a:buNone/>
            </a:pPr>
            <a:r>
              <a:rPr lang="en-US" sz="1500" dirty="0">
                <a:solidFill>
                  <a:srgbClr val="15191D"/>
                </a:solidFill>
              </a:rPr>
              <a:t>отмечает самочувствие и каждый приём таблеток, заполняет PHQ-9, GAD-7, DASS-42</a:t>
            </a:r>
            <a:endParaRPr lang="en-US" sz="1500" dirty="0"/>
          </a:p>
        </p:txBody>
      </p:sp>
      <p:sp>
        <p:nvSpPr>
          <p:cNvPr id="14" name="Номер 3"/>
          <p:cNvSpPr/>
          <p:nvPr/>
        </p:nvSpPr>
        <p:spPr>
          <a:xfrm>
            <a:off x="6492240" y="4178808"/>
            <a:ext cx="384048" cy="384048"/>
          </a:xfrm>
          <a:prstGeom prst="ellipse">
            <a:avLst/>
          </a:prstGeom>
          <a:solidFill>
            <a:srgbClr val="176B5B"/>
          </a:solidFill>
          <a:ln w="38100">
            <a:solidFill>
              <a:srgbClr val="F3F6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4160520"/>
            <a:ext cx="4282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91D"/>
                </a:solidFill>
              </a:rPr>
              <a:t>Перед приёмом </a:t>
            </a:r>
            <a:pPr indent="0" marL="0">
              <a:buNone/>
            </a:pPr>
            <a:r>
              <a:rPr lang="en-US" sz="1500" dirty="0">
                <a:solidFill>
                  <a:srgbClr val="15191D"/>
                </a:solidFill>
              </a:rPr>
              <a:t>врач видит, что изменилось, и откуда взят каждый факт</a:t>
            </a:r>
            <a:endParaRPr lang="en-US" sz="1500" dirty="0"/>
          </a:p>
        </p:txBody>
      </p:sp>
      <p:sp>
        <p:nvSpPr>
          <p:cNvPr id="16" name="Номер 4"/>
          <p:cNvSpPr/>
          <p:nvPr/>
        </p:nvSpPr>
        <p:spPr>
          <a:xfrm>
            <a:off x="6492240" y="4965192"/>
            <a:ext cx="384048" cy="384048"/>
          </a:xfrm>
          <a:prstGeom prst="ellipse">
            <a:avLst/>
          </a:prstGeom>
          <a:solidFill>
            <a:srgbClr val="176B5B"/>
          </a:solidFill>
          <a:ln w="38100">
            <a:solidFill>
              <a:srgbClr val="F3F6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946904"/>
            <a:ext cx="4282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91D"/>
                </a:solidFill>
              </a:rPr>
              <a:t>Решение </a:t>
            </a:r>
            <a:pPr indent="0" marL="0">
              <a:buNone/>
            </a:pPr>
            <a:r>
              <a:rPr lang="en-US" sz="1500" dirty="0">
                <a:solidFill>
                  <a:srgbClr val="15191D"/>
                </a:solidFill>
              </a:rPr>
              <a:t>принимает врач. Сервис ничего не назначает сам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Врач за минуту видит, кому из пациентов нужно внимание и почему</a:t>
            </a:r>
            <a:endParaRPr lang="en-US" sz="2800" dirty="0"/>
          </a:p>
        </p:txBody>
      </p:sp>
      <p:sp>
        <p:nvSpPr>
          <p:cNvPr id="3" name="Метка раздела"/>
          <p:cNvSpPr/>
          <p:nvPr/>
        </p:nvSpPr>
        <p:spPr>
          <a:xfrm>
            <a:off x="548640" y="347472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>
            <a:solidFill>
              <a:srgbClr val="E7F2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76B5B"/>
                </a:solidFill>
              </a:rPr>
              <a:t>2 · ПРОТОТИП</a:t>
            </a:r>
            <a:endParaRPr lang="en-US" sz="1100" dirty="0"/>
          </a:p>
        </p:txBody>
      </p:sp>
      <p:sp>
        <p:nvSpPr>
          <p:cNvPr id="4" name="Рамка Кабинет врача: пациенты с причинами проверки"/>
          <p:cNvSpPr/>
          <p:nvPr/>
        </p:nvSpPr>
        <p:spPr>
          <a:xfrm>
            <a:off x="548640" y="1828800"/>
            <a:ext cx="6812280" cy="4227621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Кабинет врача: пациенты с причинами проверки" descr="Кабинет врача: пациенты с причинами провер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812280" cy="4227621"/>
          </a:xfrm>
          <a:prstGeom prst="rect">
            <a:avLst/>
          </a:prstGeom>
        </p:spPr>
      </p:pic>
      <p:sp>
        <p:nvSpPr>
          <p:cNvPr id="6" name="Номер 1"/>
          <p:cNvSpPr/>
          <p:nvPr/>
        </p:nvSpPr>
        <p:spPr>
          <a:xfrm>
            <a:off x="2093068" y="3334837"/>
            <a:ext cx="347472" cy="347472"/>
          </a:xfrm>
          <a:prstGeom prst="ellipse">
            <a:avLst/>
          </a:prstGeom>
          <a:solidFill>
            <a:srgbClr val="176B5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Номер 2"/>
          <p:cNvSpPr/>
          <p:nvPr/>
        </p:nvSpPr>
        <p:spPr>
          <a:xfrm>
            <a:off x="5223712" y="3334837"/>
            <a:ext cx="347472" cy="347472"/>
          </a:xfrm>
          <a:prstGeom prst="ellipse">
            <a:avLst/>
          </a:prstGeom>
          <a:solidFill>
            <a:srgbClr val="176B5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Номер 3"/>
          <p:cNvSpPr/>
          <p:nvPr/>
        </p:nvSpPr>
        <p:spPr>
          <a:xfrm>
            <a:off x="1800897" y="3718784"/>
            <a:ext cx="347472" cy="347472"/>
          </a:xfrm>
          <a:prstGeom prst="ellipse">
            <a:avLst/>
          </a:prstGeom>
          <a:solidFill>
            <a:srgbClr val="176B5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9" name="Номер 1"/>
          <p:cNvSpPr/>
          <p:nvPr/>
        </p:nvSpPr>
        <p:spPr>
          <a:xfrm>
            <a:off x="7818120" y="1920240"/>
            <a:ext cx="384048" cy="384048"/>
          </a:xfrm>
          <a:prstGeom prst="ellipse">
            <a:avLst/>
          </a:prstGeom>
          <a:solidFill>
            <a:srgbClr val="176B5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1892808"/>
            <a:ext cx="3276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Конкретная причина проверки и ссылка на запись, из которой она взялась</a:t>
            </a:r>
            <a:endParaRPr lang="en-US" sz="1600" dirty="0"/>
          </a:p>
        </p:txBody>
      </p:sp>
      <p:sp>
        <p:nvSpPr>
          <p:cNvPr id="11" name="Номер 2"/>
          <p:cNvSpPr/>
          <p:nvPr/>
        </p:nvSpPr>
        <p:spPr>
          <a:xfrm>
            <a:off x="7818120" y="3108960"/>
            <a:ext cx="384048" cy="384048"/>
          </a:xfrm>
          <a:prstGeom prst="ellipse">
            <a:avLst/>
          </a:prstGeom>
          <a:solidFill>
            <a:srgbClr val="176B5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3081528"/>
            <a:ext cx="3276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Приём препаратов за неделю. Пропуск и «нет отметки» показаны по-разному</a:t>
            </a:r>
            <a:endParaRPr lang="en-US" sz="1600" dirty="0"/>
          </a:p>
        </p:txBody>
      </p:sp>
      <p:sp>
        <p:nvSpPr>
          <p:cNvPr id="13" name="Номер 3"/>
          <p:cNvSpPr/>
          <p:nvPr/>
        </p:nvSpPr>
        <p:spPr>
          <a:xfrm>
            <a:off x="7818120" y="4297680"/>
            <a:ext cx="384048" cy="384048"/>
          </a:xfrm>
          <a:prstGeom prst="ellipse">
            <a:avLst/>
          </a:prstGeom>
          <a:solidFill>
            <a:srgbClr val="176B5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4270248"/>
            <a:ext cx="3276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Из строки сразу в приём, план или сообщение пациенту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5440680"/>
            <a:ext cx="3824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6B"/>
                </a:solidFill>
              </a:rPr>
              <a:t>Список отсортирован: сначала те, у кого есть что проверить. Цвет всегда продублирован словом.</a:t>
            </a:r>
            <a:endParaRPr lang="en-US" sz="1300" dirty="0"/>
          </a:p>
        </p:txBody>
      </p:sp>
      <p:sp>
        <p:nvSpPr>
          <p:cNvPr id="16" name="Сноска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6B"/>
                </a:solidFill>
              </a:rPr>
              <a:t>Все пациенты и истории на снимках вымышленные.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Пациенту хватает нескольких касаний, и он видит, что запись дошла</a:t>
            </a:r>
            <a:endParaRPr lang="en-US" sz="2800" dirty="0"/>
          </a:p>
        </p:txBody>
      </p:sp>
      <p:sp>
        <p:nvSpPr>
          <p:cNvPr id="3" name="Метка раздела"/>
          <p:cNvSpPr/>
          <p:nvPr/>
        </p:nvSpPr>
        <p:spPr>
          <a:xfrm>
            <a:off x="548640" y="347472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>
            <a:solidFill>
              <a:srgbClr val="E7F2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76B5B"/>
                </a:solidFill>
              </a:rPr>
              <a:t>2 · ПРОТОТИП</a:t>
            </a:r>
            <a:endParaRPr lang="en-US" sz="1100" dirty="0"/>
          </a:p>
        </p:txBody>
      </p:sp>
      <p:sp>
        <p:nvSpPr>
          <p:cNvPr id="4" name="Корпус телефона Кабинет пациента: Сегодня"/>
          <p:cNvSpPr/>
          <p:nvPr/>
        </p:nvSpPr>
        <p:spPr>
          <a:xfrm>
            <a:off x="548640" y="1810512"/>
            <a:ext cx="2139696" cy="4368018"/>
          </a:xfrm>
          <a:prstGeom prst="roundRect">
            <a:avLst>
              <a:gd name="adj" fmla="val 9402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2000"/>
              </a:srgbClr>
            </a:outerShdw>
          </a:effectLst>
        </p:spPr>
      </p:sp>
      <p:pic>
        <p:nvPicPr>
          <p:cNvPr id="5" name="Кабинет пациента: Сегодня" descr="Кабинет пациента: Сегодн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874520"/>
            <a:ext cx="2011680" cy="4240002"/>
          </a:xfrm>
          <a:prstGeom prst="rect">
            <a:avLst/>
          </a:prstGeom>
        </p:spPr>
      </p:pic>
      <p:sp>
        <p:nvSpPr>
          <p:cNvPr id="6" name="Корпус телефона Кабинет пациента: ответ под пунктом плана"/>
          <p:cNvSpPr/>
          <p:nvPr/>
        </p:nvSpPr>
        <p:spPr>
          <a:xfrm>
            <a:off x="2971800" y="1810512"/>
            <a:ext cx="2139696" cy="4368018"/>
          </a:xfrm>
          <a:prstGeom prst="roundRect">
            <a:avLst>
              <a:gd name="adj" fmla="val 9402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2000"/>
              </a:srgbClr>
            </a:outerShdw>
          </a:effectLst>
        </p:spPr>
      </p:sp>
      <p:pic>
        <p:nvPicPr>
          <p:cNvPr id="7" name="Кабинет пациента: ответ под пунктом плана" descr="Кабинет пациента: ответ под пунктом план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1874520"/>
            <a:ext cx="2011680" cy="4240002"/>
          </a:xfrm>
          <a:prstGeom prst="rect">
            <a:avLst/>
          </a:prstGeom>
        </p:spPr>
      </p:pic>
      <p:sp>
        <p:nvSpPr>
          <p:cNvPr id="8" name="Маркер"/>
          <p:cNvSpPr/>
          <p:nvPr/>
        </p:nvSpPr>
        <p:spPr>
          <a:xfrm>
            <a:off x="5806440" y="2002536"/>
            <a:ext cx="146304" cy="146304"/>
          </a:xfrm>
          <a:prstGeom prst="ellipse">
            <a:avLst/>
          </a:prstGeom>
          <a:solidFill>
            <a:srgbClr val="176B5B"/>
          </a:solidFill>
          <a:ln w="12700">
            <a:solidFill>
              <a:srgbClr val="176B5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53912" y="1920240"/>
            <a:ext cx="54891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91D"/>
                </a:solidFill>
              </a:rPr>
              <a:t>Одна главная кнопка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616B"/>
                </a:solidFill>
              </a:rPr>
              <a:t>на телефоне видна без прокрутки</a:t>
            </a:r>
            <a:endParaRPr lang="en-US" sz="1600" dirty="0"/>
          </a:p>
        </p:txBody>
      </p:sp>
      <p:sp>
        <p:nvSpPr>
          <p:cNvPr id="10" name="Маркер"/>
          <p:cNvSpPr/>
          <p:nvPr/>
        </p:nvSpPr>
        <p:spPr>
          <a:xfrm>
            <a:off x="5806440" y="2788920"/>
            <a:ext cx="146304" cy="146304"/>
          </a:xfrm>
          <a:prstGeom prst="ellipse">
            <a:avLst/>
          </a:prstGeom>
          <a:solidFill>
            <a:srgbClr val="176B5B"/>
          </a:solidFill>
          <a:ln w="12700">
            <a:solidFill>
              <a:srgbClr val="176B5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53912" y="2706624"/>
            <a:ext cx="54891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91D"/>
                </a:solidFill>
              </a:rPr>
              <a:t>Календарь препаратов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616B"/>
                </a:solidFill>
              </a:rPr>
              <a:t>отметка каждого приёма, даже половины таблетки</a:t>
            </a:r>
            <a:endParaRPr lang="en-US" sz="1600" dirty="0"/>
          </a:p>
        </p:txBody>
      </p:sp>
      <p:sp>
        <p:nvSpPr>
          <p:cNvPr id="12" name="Маркер"/>
          <p:cNvSpPr/>
          <p:nvPr/>
        </p:nvSpPr>
        <p:spPr>
          <a:xfrm>
            <a:off x="5806440" y="3575304"/>
            <a:ext cx="146304" cy="146304"/>
          </a:xfrm>
          <a:prstGeom prst="ellipse">
            <a:avLst/>
          </a:prstGeom>
          <a:solidFill>
            <a:srgbClr val="176B5B"/>
          </a:solidFill>
          <a:ln w="12700">
            <a:solidFill>
              <a:srgbClr val="176B5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53912" y="3493008"/>
            <a:ext cx="54891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91D"/>
                </a:solidFill>
              </a:rPr>
              <a:t>Ответ под пунктом плана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616B"/>
                </a:solidFill>
              </a:rPr>
              <a:t>врач видит его рядом с этим пунктом</a:t>
            </a:r>
            <a:endParaRPr lang="en-US" sz="1600" dirty="0"/>
          </a:p>
        </p:txBody>
      </p:sp>
      <p:sp>
        <p:nvSpPr>
          <p:cNvPr id="14" name="Маркер"/>
          <p:cNvSpPr/>
          <p:nvPr/>
        </p:nvSpPr>
        <p:spPr>
          <a:xfrm>
            <a:off x="5806440" y="4361688"/>
            <a:ext cx="146304" cy="146304"/>
          </a:xfrm>
          <a:prstGeom prst="ellipse">
            <a:avLst/>
          </a:prstGeom>
          <a:solidFill>
            <a:srgbClr val="176B5B"/>
          </a:solidFill>
          <a:ln w="12700">
            <a:solidFill>
              <a:srgbClr val="176B5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53912" y="4279392"/>
            <a:ext cx="54891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91D"/>
                </a:solidFill>
              </a:rPr>
              <a:t>Анкеты PHQ-9, GAD-7, DASS-42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616B"/>
                </a:solidFill>
              </a:rPr>
              <a:t>в точных русских версиях; баллы видит только врач</a:t>
            </a:r>
            <a:endParaRPr lang="en-US" sz="1600" dirty="0"/>
          </a:p>
        </p:txBody>
      </p:sp>
      <p:sp>
        <p:nvSpPr>
          <p:cNvPr id="16" name="Маркер"/>
          <p:cNvSpPr/>
          <p:nvPr/>
        </p:nvSpPr>
        <p:spPr>
          <a:xfrm>
            <a:off x="5806440" y="5148072"/>
            <a:ext cx="146304" cy="146304"/>
          </a:xfrm>
          <a:prstGeom prst="ellipse">
            <a:avLst/>
          </a:prstGeom>
          <a:solidFill>
            <a:srgbClr val="176B5B"/>
          </a:solidFill>
          <a:ln w="12700">
            <a:solidFill>
              <a:srgbClr val="176B5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53912" y="5065776"/>
            <a:ext cx="54891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91D"/>
                </a:solidFill>
              </a:rPr>
              <a:t>Черновик хранится на сервере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616B"/>
                </a:solidFill>
              </a:rPr>
              <a:t>повторное нажатие ничего не задвоит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5806440" y="5852160"/>
            <a:ext cx="5836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Оба кабинета полноценно работают на телефоне и компьютере, без установки приложения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мы отличаемся от бумажного дневника и переписки в мессенджере</a:t>
            </a:r>
            <a:endParaRPr lang="en-US" sz="2800" dirty="0"/>
          </a:p>
        </p:txBody>
      </p:sp>
      <p:sp>
        <p:nvSpPr>
          <p:cNvPr id="3" name="Метка раздела"/>
          <p:cNvSpPr/>
          <p:nvPr/>
        </p:nvSpPr>
        <p:spPr>
          <a:xfrm>
            <a:off x="548640" y="347472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>
            <a:solidFill>
              <a:srgbClr val="E7F2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76B5B"/>
                </a:solidFill>
              </a:rPr>
              <a:t>ЧЕМ МЫ ЛУЧШЕ</a:t>
            </a:r>
            <a:endParaRPr lang="en-US" sz="1100" dirty="0"/>
          </a:p>
        </p:txBody>
      </p:sp>
      <p:graphicFrame>
        <p:nvGraphicFramePr>
          <p:cNvPr id="6" name="Сравнение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7850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6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сейчас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Шаг вперёд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5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519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Сведения между приёмами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6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 слов пациента, задним числом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519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каждый день, с автором и временем записи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519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Откуда взялся факт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6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восстановить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519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ссылка на исходную запись пациента или врача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519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Пропуски и пробелы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6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выглядят как «всё хорошо»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519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пропуск, «нет отметки» и неизвестное видны отдельно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519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Анкеты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6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бумага, сумма в уме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519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исходные ответы, суммы по шкалам, графики динамики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519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 пациента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6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личной переписке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519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у лечащего врача, без внешних ИИ-сервисов и CDN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E"/>
                    </a:solidFill>
                  </a:tcPr>
                </a:tc>
              </a:tr>
            </a:tbl>
          </a:graphicData>
        </a:graphic>
      </p:graphicFrame>
      <p:sp>
        <p:nvSpPr>
          <p:cNvPr id="5" name="Сноска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6B"/>
                </a:solidFill>
              </a:rPr>
              <a:t>Врач по-прежнему принимает все клинические решения: назначение, изменение терапии и плана проходят только после его подтверждения на сервере.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Прототип проверен автотестами на каждом этапе разработки</a:t>
            </a:r>
            <a:endParaRPr lang="en-US" sz="2800" dirty="0"/>
          </a:p>
        </p:txBody>
      </p:sp>
      <p:sp>
        <p:nvSpPr>
          <p:cNvPr id="3" name="Метка раздела"/>
          <p:cNvSpPr/>
          <p:nvPr/>
        </p:nvSpPr>
        <p:spPr>
          <a:xfrm>
            <a:off x="548640" y="347472"/>
            <a:ext cx="1513332" cy="292608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>
            <a:solidFill>
              <a:srgbClr val="E7F2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76B5B"/>
                </a:solidFill>
              </a:rPr>
              <a:t>3 · ИСПЫТАНИЯ</a:t>
            </a:r>
            <a:endParaRPr lang="en-US" sz="1100" dirty="0"/>
          </a:p>
        </p:txBody>
      </p:sp>
      <p:sp>
        <p:nvSpPr>
          <p:cNvPr id="4" name="Плитка автотестов в наборе"/>
          <p:cNvSpPr/>
          <p:nvPr/>
        </p:nvSpPr>
        <p:spPr>
          <a:xfrm>
            <a:off x="548640" y="1874520"/>
            <a:ext cx="2567864" cy="1874520"/>
          </a:xfrm>
          <a:prstGeom prst="roundRect">
            <a:avLst>
              <a:gd name="adj" fmla="val 4878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976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автотестов в наборе</a:t>
            </a:r>
            <a:endParaRPr lang="en-US" sz="1500" dirty="0"/>
          </a:p>
        </p:txBody>
      </p:sp>
      <p:sp>
        <p:nvSpPr>
          <p:cNvPr id="7" name="Плитка проходят, ни одного пропущенного"/>
          <p:cNvSpPr/>
          <p:nvPr/>
        </p:nvSpPr>
        <p:spPr>
          <a:xfrm>
            <a:off x="3390824" y="1874520"/>
            <a:ext cx="2567864" cy="1874520"/>
          </a:xfrm>
          <a:prstGeom prst="roundRect">
            <a:avLst>
              <a:gd name="adj" fmla="val 4878"/>
            </a:avLst>
          </a:prstGeom>
          <a:solidFill>
            <a:srgbClr val="E7F2EE"/>
          </a:solidFill>
          <a:ln w="12700">
            <a:solidFill>
              <a:srgbClr val="E7F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9424" y="2057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100 %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3619424" y="301752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проходят, ни одного пропущенного</a:t>
            </a:r>
            <a:endParaRPr lang="en-US" sz="1500" dirty="0"/>
          </a:p>
        </p:txBody>
      </p:sp>
      <p:sp>
        <p:nvSpPr>
          <p:cNvPr id="10" name="Плитка внешних библиотек на весь сервис"/>
          <p:cNvSpPr/>
          <p:nvPr/>
        </p:nvSpPr>
        <p:spPr>
          <a:xfrm>
            <a:off x="6233008" y="1874520"/>
            <a:ext cx="2567864" cy="1874520"/>
          </a:xfrm>
          <a:prstGeom prst="roundRect">
            <a:avLst>
              <a:gd name="adj" fmla="val 4878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2057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301752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внешних библиотек на весь сервис</a:t>
            </a:r>
            <a:endParaRPr lang="en-US" sz="1500" dirty="0"/>
          </a:p>
        </p:txBody>
      </p:sp>
      <p:sp>
        <p:nvSpPr>
          <p:cNvPr id="13" name="Плитка этапа разработки приняты после проверки"/>
          <p:cNvSpPr/>
          <p:nvPr/>
        </p:nvSpPr>
        <p:spPr>
          <a:xfrm>
            <a:off x="9075191" y="1874520"/>
            <a:ext cx="2567864" cy="1874520"/>
          </a:xfrm>
          <a:prstGeom prst="roundRect">
            <a:avLst>
              <a:gd name="adj" fmla="val 4878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3791" y="2057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5000" dirty="0"/>
          </a:p>
        </p:txBody>
      </p:sp>
      <p:sp>
        <p:nvSpPr>
          <p:cNvPr id="15" name="Text 13"/>
          <p:cNvSpPr txBox="1"/>
          <p:nvPr/>
        </p:nvSpPr>
        <p:spPr>
          <a:xfrm>
            <a:off x="9303791" y="301752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этапа разработки приняты после проверки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91D"/>
                </a:solidFill>
              </a:rPr>
              <a:t>Что проверяют отдельно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B5B"/>
                </a:solidFill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498848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Доступ по ролям: врач не открывает чужих пациентов, пациент — чужие записи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B5B"/>
                </a:solidFill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98768" y="4498848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Защита форм от подделки запросов (CSRF) и безопасный повтор отправки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B5B"/>
                </a:solidFill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120640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Перезапуск сервера без потери данных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B5B"/>
                </a:solidFill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5120640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Вёрстка обоих кабинетов в Chromium и WebKit, экраны от 390 до 1440 px</a:t>
            </a:r>
            <a:endParaRPr lang="en-US" sz="1500" dirty="0"/>
          </a:p>
        </p:txBody>
      </p:sp>
      <p:sp>
        <p:nvSpPr>
          <p:cNvPr id="25" name="Сноска"/>
          <p:cNvSpPr txBox="1"/>
          <p:nvPr/>
        </p:nvSpPr>
        <p:spPr>
          <a:xfrm>
            <a:off x="548640" y="592531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6B"/>
                </a:solidFill>
              </a:rPr>
              <a:t>Замер 27.10.2026: python -m unittest, 976 тестов за 7 мин 26 с, все проходят, пропусков нет. macOS, Python 3.13, только вымышленные данные.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Следующий шаг: сервис сам замечает тревожные признаки и зовёт врача</a:t>
            </a:r>
            <a:endParaRPr lang="en-US" sz="2800" dirty="0"/>
          </a:p>
        </p:txBody>
      </p:sp>
      <p:sp>
        <p:nvSpPr>
          <p:cNvPr id="3" name="Метка раздела"/>
          <p:cNvSpPr/>
          <p:nvPr/>
        </p:nvSpPr>
        <p:spPr>
          <a:xfrm>
            <a:off x="548640" y="347472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>
            <a:solidFill>
              <a:srgbClr val="E7F2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76B5B"/>
                </a:solidFill>
              </a:rPr>
              <a:t>4 · ДАЛЬШЕ</a:t>
            </a:r>
            <a:endParaRPr lang="en-US" sz="1100" dirty="0"/>
          </a:p>
        </p:txBody>
      </p:sp>
      <p:sp>
        <p:nvSpPr>
          <p:cNvPr id="4" name="Узел Данные"/>
          <p:cNvSpPr/>
          <p:nvPr/>
        </p:nvSpPr>
        <p:spPr>
          <a:xfrm>
            <a:off x="548640" y="1965960"/>
            <a:ext cx="1984797" cy="1874520"/>
          </a:xfrm>
          <a:prstGeom prst="roundRect">
            <a:avLst>
              <a:gd name="adj" fmla="val 4878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5" name="Номер 1"/>
          <p:cNvSpPr/>
          <p:nvPr/>
        </p:nvSpPr>
        <p:spPr>
          <a:xfrm>
            <a:off x="731520" y="2148840"/>
            <a:ext cx="347472" cy="347472"/>
          </a:xfrm>
          <a:prstGeom prst="ellipse">
            <a:avLst/>
          </a:prstGeom>
          <a:solidFill>
            <a:srgbClr val="176B5B"/>
          </a:solidFill>
          <a:ln w="19050">
            <a:solidFill>
              <a:srgbClr val="F3F6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24328"/>
            <a:ext cx="16190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5191D"/>
                </a:solidFill>
              </a:rPr>
              <a:t>Данные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6616B"/>
                </a:solidFill>
              </a:rPr>
              <a:t>анкеты, дневник, анамнез, записи приёма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533437" y="27203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B5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Узел Проверка"/>
          <p:cNvSpPr/>
          <p:nvPr/>
        </p:nvSpPr>
        <p:spPr>
          <a:xfrm>
            <a:off x="2826045" y="1965960"/>
            <a:ext cx="1984797" cy="1874520"/>
          </a:xfrm>
          <a:prstGeom prst="roundRect">
            <a:avLst>
              <a:gd name="adj" fmla="val 4878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9" name="Номер 2"/>
          <p:cNvSpPr/>
          <p:nvPr/>
        </p:nvSpPr>
        <p:spPr>
          <a:xfrm>
            <a:off x="3008925" y="2148840"/>
            <a:ext cx="347472" cy="347472"/>
          </a:xfrm>
          <a:prstGeom prst="ellipse">
            <a:avLst/>
          </a:prstGeom>
          <a:solidFill>
            <a:srgbClr val="176B5B"/>
          </a:solidFill>
          <a:ln w="19050">
            <a:solidFill>
              <a:srgbClr val="F3F6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08925" y="2624328"/>
            <a:ext cx="16190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5191D"/>
                </a:solidFill>
              </a:rPr>
              <a:t>Проверка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6616B"/>
                </a:solidFill>
              </a:rPr>
              <a:t>проверяемые правила и языковая модель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10841" y="27203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B5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Узел Сигнал врачу"/>
          <p:cNvSpPr/>
          <p:nvPr/>
        </p:nvSpPr>
        <p:spPr>
          <a:xfrm>
            <a:off x="5103449" y="1965960"/>
            <a:ext cx="1984797" cy="1874520"/>
          </a:xfrm>
          <a:prstGeom prst="roundRect">
            <a:avLst>
              <a:gd name="adj" fmla="val 4878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Номер 3"/>
          <p:cNvSpPr/>
          <p:nvPr/>
        </p:nvSpPr>
        <p:spPr>
          <a:xfrm>
            <a:off x="5286329" y="2148840"/>
            <a:ext cx="347472" cy="347472"/>
          </a:xfrm>
          <a:prstGeom prst="ellipse">
            <a:avLst/>
          </a:prstGeom>
          <a:solidFill>
            <a:srgbClr val="176B5B"/>
          </a:solidFill>
          <a:ln w="19050">
            <a:solidFill>
              <a:srgbClr val="F3F6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86329" y="2624328"/>
            <a:ext cx="16190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5191D"/>
                </a:solidFill>
              </a:rPr>
              <a:t>Сигнал врачу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6616B"/>
                </a:solidFill>
              </a:rPr>
              <a:t>опасные сочетания и ухудшение — только лечащему врачу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88246" y="27203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B5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Узел Предложение"/>
          <p:cNvSpPr/>
          <p:nvPr/>
        </p:nvSpPr>
        <p:spPr>
          <a:xfrm>
            <a:off x="7380854" y="1965960"/>
            <a:ext cx="1984797" cy="1874520"/>
          </a:xfrm>
          <a:prstGeom prst="roundRect">
            <a:avLst>
              <a:gd name="adj" fmla="val 4878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7" name="Номер 4"/>
          <p:cNvSpPr/>
          <p:nvPr/>
        </p:nvSpPr>
        <p:spPr>
          <a:xfrm>
            <a:off x="7563734" y="2148840"/>
            <a:ext cx="347472" cy="347472"/>
          </a:xfrm>
          <a:prstGeom prst="ellipse">
            <a:avLst/>
          </a:prstGeom>
          <a:solidFill>
            <a:srgbClr val="176B5B"/>
          </a:solidFill>
          <a:ln w="19050">
            <a:solidFill>
              <a:srgbClr val="F3F6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63734" y="2624328"/>
            <a:ext cx="16190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5191D"/>
                </a:solidFill>
              </a:rPr>
              <a:t>Предложение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6616B"/>
                </a:solidFill>
              </a:rPr>
              <a:t>гипотеза диагноза с альтернативами, проект плана и лечения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65651" y="27203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B5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Узел Решение врача"/>
          <p:cNvSpPr/>
          <p:nvPr/>
        </p:nvSpPr>
        <p:spPr>
          <a:xfrm>
            <a:off x="9658259" y="1965960"/>
            <a:ext cx="1984797" cy="1874520"/>
          </a:xfrm>
          <a:prstGeom prst="roundRect">
            <a:avLst>
              <a:gd name="adj" fmla="val 4878"/>
            </a:avLst>
          </a:prstGeom>
          <a:solidFill>
            <a:srgbClr val="176B5B"/>
          </a:solidFill>
          <a:ln w="12700">
            <a:solidFill>
              <a:srgbClr val="176B5B"/>
            </a:solidFill>
            <a:prstDash val="solid"/>
          </a:ln>
        </p:spPr>
      </p:sp>
      <p:sp>
        <p:nvSpPr>
          <p:cNvPr id="21" name="Номер 5"/>
          <p:cNvSpPr/>
          <p:nvPr/>
        </p:nvSpPr>
        <p:spPr>
          <a:xfrm>
            <a:off x="9841139" y="214884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6B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6B5B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41139" y="2624328"/>
            <a:ext cx="16190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Решение врача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3EEEA"/>
                </a:solidFill>
              </a:rPr>
              <a:t>без его подтверждения ничего не применяется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91D"/>
                </a:solidFill>
              </a:rPr>
              <a:t>Серверная часть: 16 из 19 этапов приняты</a:t>
            </a:r>
            <a:endParaRPr lang="en-US" sz="1600" dirty="0"/>
          </a:p>
        </p:txBody>
      </p:sp>
      <p:sp>
        <p:nvSpPr>
          <p:cNvPr id="24" name="Шкала готовности"/>
          <p:cNvSpPr/>
          <p:nvPr/>
        </p:nvSpPr>
        <p:spPr>
          <a:xfrm>
            <a:off x="548640" y="4690872"/>
            <a:ext cx="11094415" cy="164592"/>
          </a:xfrm>
          <a:prstGeom prst="roundRect">
            <a:avLst>
              <a:gd name="adj" fmla="val 50000"/>
            </a:avLst>
          </a:prstGeom>
          <a:solidFill>
            <a:srgbClr val="D3DAE0"/>
          </a:solidFill>
          <a:ln w="12700">
            <a:solidFill>
              <a:srgbClr val="D3DAE0"/>
            </a:solidFill>
            <a:prstDash val="solid"/>
          </a:ln>
        </p:spPr>
      </p:sp>
      <p:sp>
        <p:nvSpPr>
          <p:cNvPr id="25" name="Готово"/>
          <p:cNvSpPr/>
          <p:nvPr/>
        </p:nvSpPr>
        <p:spPr>
          <a:xfrm>
            <a:off x="548640" y="4690872"/>
            <a:ext cx="9342665" cy="164592"/>
          </a:xfrm>
          <a:prstGeom prst="roundRect">
            <a:avLst>
              <a:gd name="adj" fmla="val 50000"/>
            </a:avLst>
          </a:prstGeom>
          <a:solidFill>
            <a:srgbClr val="176B5B"/>
          </a:solidFill>
          <a:ln w="12700">
            <a:solidFill>
              <a:srgbClr val="176B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056632"/>
            <a:ext cx="5364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76B5B"/>
                </a:solidFill>
              </a:rPr>
              <a:t>Готово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5191D"/>
                </a:solidFill>
              </a:rPr>
              <a:t>правила риска, гипотезы с основаниями и противоречиями, проверка лекарственных ограничений, доставка сигнала врачу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78728" y="5056632"/>
            <a:ext cx="5364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6616B"/>
                </a:solidFill>
              </a:rPr>
              <a:t>Осталось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5191D"/>
                </a:solidFill>
              </a:rPr>
              <a:t>замер скорости и устойчивости, сквозная приёмка, проверка врачами-экспертами, вывод в кабинет врача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год доводим модуль, переходим на Go и выходим в пилот</a:t>
            </a:r>
            <a:endParaRPr lang="en-US" sz="2800" dirty="0"/>
          </a:p>
        </p:txBody>
      </p:sp>
      <p:sp>
        <p:nvSpPr>
          <p:cNvPr id="3" name="Метка раздела"/>
          <p:cNvSpPr/>
          <p:nvPr/>
        </p:nvSpPr>
        <p:spPr>
          <a:xfrm>
            <a:off x="548640" y="347472"/>
            <a:ext cx="1513332" cy="292608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>
            <a:solidFill>
              <a:srgbClr val="E7F2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76B5B"/>
                </a:solidFill>
              </a:rPr>
              <a:t>4 · ВНЕДРЕНИЕ</a:t>
            </a:r>
            <a:endParaRPr lang="en-US" sz="1100" dirty="0"/>
          </a:p>
        </p:txBody>
      </p:sp>
      <p:sp>
        <p:nvSpPr>
          <p:cNvPr id="4" name="Линия времени"/>
          <p:cNvSpPr/>
          <p:nvPr/>
        </p:nvSpPr>
        <p:spPr>
          <a:xfrm>
            <a:off x="731520" y="2103120"/>
            <a:ext cx="10728655" cy="0"/>
          </a:xfrm>
          <a:prstGeom prst="line">
            <a:avLst/>
          </a:prstGeom>
          <a:noFill/>
          <a:ln w="19050">
            <a:solidFill>
              <a:srgbClr val="9FC4B9"/>
            </a:solidFill>
            <a:prstDash val="solid"/>
          </a:ln>
        </p:spPr>
      </p:sp>
      <p:sp>
        <p:nvSpPr>
          <p:cNvPr id="5" name="Номер 1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176B5B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IV кв.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44368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 тревожных признаков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2476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16B"/>
                </a:solidFill>
              </a:rPr>
              <a:t>скорость, сквозная приёмка, вывод в кабинет врача</a:t>
            </a:r>
            <a:endParaRPr lang="en-US" sz="1400" dirty="0"/>
          </a:p>
        </p:txBody>
      </p:sp>
      <p:sp>
        <p:nvSpPr>
          <p:cNvPr id="9" name="Номер 2"/>
          <p:cNvSpPr/>
          <p:nvPr/>
        </p:nvSpPr>
        <p:spPr>
          <a:xfrm>
            <a:off x="3390824" y="1911096"/>
            <a:ext cx="384048" cy="384048"/>
          </a:xfrm>
          <a:prstGeom prst="ellipse">
            <a:avLst/>
          </a:prstGeom>
          <a:solidFill>
            <a:srgbClr val="176B5B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90824" y="2606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 кв. 2027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90824" y="2944368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Перенос сервера на Go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390824" y="3657600"/>
            <a:ext cx="2476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16B"/>
                </a:solidFill>
              </a:rPr>
              <a:t>быстрее ответ, один исполняемый файл, проще установка в клинике</a:t>
            </a:r>
            <a:endParaRPr lang="en-US" sz="1400" dirty="0"/>
          </a:p>
        </p:txBody>
      </p:sp>
      <p:sp>
        <p:nvSpPr>
          <p:cNvPr id="13" name="Номер 3"/>
          <p:cNvSpPr/>
          <p:nvPr/>
        </p:nvSpPr>
        <p:spPr>
          <a:xfrm>
            <a:off x="6233008" y="1911096"/>
            <a:ext cx="384048" cy="384048"/>
          </a:xfrm>
          <a:prstGeom prst="ellipse">
            <a:avLst/>
          </a:prstGeom>
          <a:solidFill>
            <a:srgbClr val="176B5B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606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II кв. 2027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33008" y="2944368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Пилот у психиатров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233008" y="3657600"/>
            <a:ext cx="2476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16B"/>
                </a:solidFill>
              </a:rPr>
              <a:t>время подготовки к приёму, доля заполненных анкет, оценка удобства врачами</a:t>
            </a:r>
            <a:endParaRPr lang="en-US" sz="1400" dirty="0"/>
          </a:p>
        </p:txBody>
      </p:sp>
      <p:sp>
        <p:nvSpPr>
          <p:cNvPr id="17" name="Номер 4"/>
          <p:cNvSpPr/>
          <p:nvPr/>
        </p:nvSpPr>
        <p:spPr>
          <a:xfrm>
            <a:off x="9075191" y="1911096"/>
            <a:ext cx="384048" cy="384048"/>
          </a:xfrm>
          <a:prstGeom prst="ellipse">
            <a:avLst/>
          </a:prstGeom>
          <a:solidFill>
            <a:srgbClr val="176B5B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75191" y="2606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III–IV кв. 2027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75191" y="2944368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Регистрация медизделия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075191" y="3657600"/>
            <a:ext cx="2476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16B"/>
                </a:solidFill>
              </a:rPr>
              <a:t>клинические испытания; ПО с ИИ — класс риска 3 по ПП РФ № 1684</a:t>
            </a:r>
            <a:endParaRPr lang="en-US" sz="1400" dirty="0"/>
          </a:p>
        </p:txBody>
      </p:sp>
      <p:sp>
        <p:nvSpPr>
          <p:cNvPr id="21" name="Условия внедрения"/>
          <p:cNvSpPr/>
          <p:nvPr/>
        </p:nvSpPr>
        <p:spPr>
          <a:xfrm>
            <a:off x="548640" y="493776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074920"/>
            <a:ext cx="513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191D"/>
                </a:solidFill>
              </a:rPr>
              <a:t>Данные пациента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616B"/>
                </a:solidFill>
              </a:rPr>
              <a:t>152-ФЗ и 323-ФЗ: согласие, хранение в России, врачебная тайна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5074920"/>
            <a:ext cx="513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191D"/>
                </a:solidFill>
              </a:rPr>
              <a:t>Что нам нужно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616B"/>
                </a:solidFill>
              </a:rPr>
              <a:t>клиническая база для пилота и психиатры-эксперты для приёмки модуля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медика и разработчик</a:t>
            </a:r>
            <a:endParaRPr lang="en-US" sz="2800" dirty="0"/>
          </a:p>
        </p:txBody>
      </p:sp>
      <p:sp>
        <p:nvSpPr>
          <p:cNvPr id="3" name="Метка раздела"/>
          <p:cNvSpPr/>
          <p:nvPr/>
        </p:nvSpPr>
        <p:spPr>
          <a:xfrm>
            <a:off x="548640" y="347472"/>
            <a:ext cx="1339596" cy="292608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>
            <a:solidFill>
              <a:srgbClr val="E7F2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76B5B"/>
                </a:solidFill>
              </a:rPr>
              <a:t>5 · КОМАНДА</a:t>
            </a:r>
            <a:endParaRPr lang="en-US" sz="1100" dirty="0"/>
          </a:p>
        </p:txBody>
      </p:sp>
      <p:sp>
        <p:nvSpPr>
          <p:cNvPr id="4" name="Фото — Идиятуллин"/>
          <p:cNvSpPr/>
          <p:nvPr/>
        </p:nvSpPr>
        <p:spPr>
          <a:xfrm>
            <a:off x="709849" y="1828800"/>
            <a:ext cx="1691640" cy="1691640"/>
          </a:xfrm>
          <a:prstGeom prst="ellipse">
            <a:avLst/>
          </a:prstGeom>
          <a:solidFill>
            <a:srgbClr val="F3F6F5"/>
          </a:solidFill>
          <a:ln w="12700">
            <a:solidFill>
              <a:srgbClr val="D3DA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AE"/>
                </a:solidFill>
              </a:rPr>
              <a:t>фото</a:t>
            </a:r>
            <a:endParaRPr lang="en-US" sz="1100" dirty="0"/>
          </a:p>
        </p:txBody>
      </p:sp>
      <p:sp>
        <p:nvSpPr>
          <p:cNvPr id="5" name="Капитан"/>
          <p:cNvSpPr/>
          <p:nvPr/>
        </p:nvSpPr>
        <p:spPr>
          <a:xfrm>
            <a:off x="1052749" y="3355848"/>
            <a:ext cx="1005840" cy="274320"/>
          </a:xfrm>
          <a:prstGeom prst="roundRect">
            <a:avLst>
              <a:gd name="adj" fmla="val 43333"/>
            </a:avLst>
          </a:prstGeom>
          <a:solidFill>
            <a:srgbClr val="FFF0C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91D"/>
                </a:solidFill>
              </a:rPr>
              <a:t>капитан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20140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5191D"/>
                </a:solidFill>
              </a:rPr>
              <a:t>Идиятуллин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5191D"/>
                </a:solidFill>
              </a:rPr>
              <a:t>Ильназ Алмазович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76B5B"/>
                </a:solidFill>
              </a:rPr>
              <a:t>медицина</a:t>
            </a:r>
            <a:endParaRPr lang="en-US" sz="1700" dirty="0"/>
          </a:p>
        </p:txBody>
      </p:sp>
      <p:sp>
        <p:nvSpPr>
          <p:cNvPr id="7" name="Фото — Сибагатуллин"/>
          <p:cNvSpPr/>
          <p:nvPr/>
        </p:nvSpPr>
        <p:spPr>
          <a:xfrm>
            <a:off x="2979938" y="1828800"/>
            <a:ext cx="1691640" cy="1691640"/>
          </a:xfrm>
          <a:prstGeom prst="ellipse">
            <a:avLst/>
          </a:prstGeom>
          <a:solidFill>
            <a:srgbClr val="F3F6F5"/>
          </a:solidFill>
          <a:ln w="12700">
            <a:solidFill>
              <a:srgbClr val="D3DA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AE"/>
                </a:solidFill>
              </a:rPr>
              <a:t>фото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18729" y="3749040"/>
            <a:ext cx="20140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5191D"/>
                </a:solidFill>
              </a:rPr>
              <a:t>Сибагатуллин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5191D"/>
                </a:solidFill>
              </a:rPr>
              <a:t>Азамат Ильдарович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76B5B"/>
                </a:solidFill>
              </a:rPr>
              <a:t>разработка</a:t>
            </a:r>
            <a:endParaRPr lang="en-US" sz="1700" dirty="0"/>
          </a:p>
        </p:txBody>
      </p:sp>
      <p:sp>
        <p:nvSpPr>
          <p:cNvPr id="9" name="Фото — Галицкий"/>
          <p:cNvSpPr/>
          <p:nvPr/>
        </p:nvSpPr>
        <p:spPr>
          <a:xfrm>
            <a:off x="5250028" y="1828800"/>
            <a:ext cx="1691640" cy="1691640"/>
          </a:xfrm>
          <a:prstGeom prst="ellipse">
            <a:avLst/>
          </a:prstGeom>
          <a:solidFill>
            <a:srgbClr val="F3F6F5"/>
          </a:solidFill>
          <a:ln w="12700">
            <a:solidFill>
              <a:srgbClr val="D3DA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AE"/>
                </a:solidFill>
              </a:rPr>
              <a:t>фото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88819" y="3749040"/>
            <a:ext cx="20140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5191D"/>
                </a:solidFill>
              </a:rPr>
              <a:t>Галицкий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5191D"/>
                </a:solidFill>
              </a:rPr>
              <a:t>Марк Игоревич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76B5B"/>
                </a:solidFill>
              </a:rPr>
              <a:t>медицина</a:t>
            </a:r>
            <a:endParaRPr lang="en-US" sz="1700" dirty="0"/>
          </a:p>
        </p:txBody>
      </p:sp>
      <p:sp>
        <p:nvSpPr>
          <p:cNvPr id="11" name="Фото — Мурадисинов"/>
          <p:cNvSpPr/>
          <p:nvPr/>
        </p:nvSpPr>
        <p:spPr>
          <a:xfrm>
            <a:off x="7520117" y="1828800"/>
            <a:ext cx="1691640" cy="1691640"/>
          </a:xfrm>
          <a:prstGeom prst="ellipse">
            <a:avLst/>
          </a:prstGeom>
          <a:solidFill>
            <a:srgbClr val="F3F6F5"/>
          </a:solidFill>
          <a:ln w="12700">
            <a:solidFill>
              <a:srgbClr val="D3DA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AE"/>
                </a:solidFill>
              </a:rPr>
              <a:t>фото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58908" y="3749040"/>
            <a:ext cx="20140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5191D"/>
                </a:solidFill>
              </a:rPr>
              <a:t>Мурадисинов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5191D"/>
                </a:solidFill>
              </a:rPr>
              <a:t>Мурадисин Идрисович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76B5B"/>
                </a:solidFill>
              </a:rPr>
              <a:t>медицина</a:t>
            </a:r>
            <a:endParaRPr lang="en-US" sz="1700" dirty="0"/>
          </a:p>
        </p:txBody>
      </p:sp>
      <p:sp>
        <p:nvSpPr>
          <p:cNvPr id="13" name="Фото — Гайнатуллин"/>
          <p:cNvSpPr/>
          <p:nvPr/>
        </p:nvSpPr>
        <p:spPr>
          <a:xfrm>
            <a:off x="9790206" y="1828800"/>
            <a:ext cx="1691640" cy="1691640"/>
          </a:xfrm>
          <a:prstGeom prst="ellipse">
            <a:avLst/>
          </a:prstGeom>
          <a:solidFill>
            <a:srgbClr val="F3F6F5"/>
          </a:solidFill>
          <a:ln w="12700">
            <a:solidFill>
              <a:srgbClr val="D3DA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AE"/>
                </a:solidFill>
              </a:rPr>
              <a:t>фото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628998" y="3749040"/>
            <a:ext cx="20140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5191D"/>
                </a:solidFill>
              </a:rPr>
              <a:t>Гайнатуллин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5191D"/>
                </a:solidFill>
              </a:rPr>
              <a:t>Ильназ Рамилевич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76B5B"/>
                </a:solidFill>
              </a:rPr>
              <a:t>медицина</a:t>
            </a:r>
            <a:endParaRPr lang="en-US" sz="1700" dirty="0"/>
          </a:p>
        </p:txBody>
      </p:sp>
      <p:sp>
        <p:nvSpPr>
          <p:cNvPr id="15" name="Благодарности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7F2EE"/>
          </a:solidFill>
          <a:ln w="12700">
            <a:solidFill>
              <a:srgbClr val="E7F2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B5B"/>
                </a:solidFill>
              </a:rPr>
              <a:t>Спасибо </a:t>
            </a:r>
            <a:pPr indent="0" marL="0">
              <a:buNone/>
            </a:pPr>
            <a:r>
              <a:rPr lang="en-US" sz="1500" dirty="0">
                <a:solidFill>
                  <a:srgbClr val="15191D"/>
                </a:solidFill>
              </a:rPr>
              <a:t>организаторам чемпионата — НМИЦ ПН имени В. П. Сербского и Сеченовскому Университету, партнёру «Авинейро», нашим трекерам и экспертам, а также Казанскому ГМУ.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вперёд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3EEEA"/>
                </a:solidFill>
              </a:rPr>
              <a:t>Врач видит, что изменилось между приёмами. Решение остаётся за ним.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937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C9BE"/>
                </a:solidFill>
              </a:rPr>
              <a:t>Спасибо! Готовы ответить на вопросы</a:t>
            </a:r>
            <a:endParaRPr lang="en-US" sz="2200" dirty="0"/>
          </a:p>
        </p:txBody>
      </p:sp>
      <p:sp>
        <p:nvSpPr>
          <p:cNvPr id="5" name="QR GitHub"/>
          <p:cNvSpPr/>
          <p:nvPr/>
        </p:nvSpPr>
        <p:spPr>
          <a:xfrm>
            <a:off x="6385255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AE"/>
                </a:solidFill>
              </a:rPr>
              <a:t>QR GitHub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85255" y="3959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Код на GitHub</a:t>
            </a:r>
            <a:endParaRPr lang="en-US" sz="1500" dirty="0"/>
          </a:p>
        </p:txBody>
      </p:sp>
      <p:sp>
        <p:nvSpPr>
          <p:cNvPr id="7" name="QR демо"/>
          <p:cNvSpPr/>
          <p:nvPr/>
        </p:nvSpPr>
        <p:spPr>
          <a:xfrm>
            <a:off x="9174175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AE"/>
                </a:solidFill>
              </a:rPr>
              <a:t>QR демо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74175" y="3959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Демонстрация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Приложение: как измеряли и откуда цифры</a:t>
            </a:r>
            <a:endParaRPr lang="en-US" sz="2800" dirty="0"/>
          </a:p>
        </p:txBody>
      </p:sp>
      <p:sp>
        <p:nvSpPr>
          <p:cNvPr id="3" name="Метка раздела"/>
          <p:cNvSpPr/>
          <p:nvPr/>
        </p:nvSpPr>
        <p:spPr>
          <a:xfrm>
            <a:off x="548640" y="347472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>
            <a:solidFill>
              <a:srgbClr val="E7F2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76B5B"/>
                </a:solidFill>
              </a:rPr>
              <a:t>ПРИЛОЖЕНИЕ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91D"/>
                </a:solidFill>
              </a:rPr>
              <a:t>Автотесты: python -m unittest discover -s apps/tests, 27.10.2026, macOS, Python 3.13. Всего 976, прошли 976, пропущенных нет.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91D"/>
                </a:solidFill>
              </a:rPr>
              <a:t>Перед замером устаревшие тесты обновлены под текущий интерфейс: проверки удалённого экрана документов заменены проверками того, что прежние записи сохраняются, а экран больше недоступен.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91D"/>
                </a:solidFill>
              </a:rPr>
              <a:t>Покрытие кода (замер до обновления тестов): coverage.py 7.6.10 с учётом ветвлений, пакет apps/compass, 87 %.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91D"/>
                </a:solidFill>
              </a:rPr>
              <a:t>Этапы разработки: 102 тега slice/* в Git; каждый этап закрывается проверкой и записью в memory/.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91D"/>
                </a:solidFill>
              </a:rPr>
              <a:t>Модуль тревожных признаков: этапы BE01–BE16 приняты технически, BE17–BE19 (скорость, сквозная приёмка, клиническая проверка) впереди. В интерфейс модуль не выведен.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91D"/>
                </a:solidFill>
              </a:rPr>
              <a:t>Вёрстка: снимки Chromium и WebKit на ширине 390 и 1440 px (evidence/UI10). Все пациенты и истории в прототипе вымышленные.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91D"/>
                </a:solidFill>
              </a:rPr>
              <a:t>ВОЗ: Depressive disorder (depression), fact sheet, 2023 — около 280 млн человек в мире.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191D"/>
                </a:solidFill>
              </a:rPr>
              <a:t>Регистрация медизделий: ПП РФ от 30.11.2024 № 1684; программное обеспечение с технологиями ИИ относится к классу риска 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g vpered">
  <a:themeElements>
    <a:clrScheme name="Shag vpered">
      <a:dk1>
        <a:srgbClr val="15191D"/>
      </a:dk1>
      <a:lt1>
        <a:srgbClr val="FFFFFF"/>
      </a:lt1>
      <a:dk2>
        <a:srgbClr val="0E2A24"/>
      </a:dk2>
      <a:lt2>
        <a:srgbClr val="F3F6F5"/>
      </a:lt2>
      <a:accent1>
        <a:srgbClr val="176B5B"/>
      </a:accent1>
      <a:accent2>
        <a:srgbClr val="E7F2EE"/>
      </a:accent2>
      <a:accent3>
        <a:srgbClr val="FFF0C2"/>
      </a:accent3>
      <a:accent4>
        <a:srgbClr val="B8261B"/>
      </a:accent4>
      <a:accent5>
        <a:srgbClr val="56616B"/>
      </a:accent5>
      <a:accent6>
        <a:srgbClr val="D3DAE0"/>
      </a:accent6>
      <a:hlink>
        <a:srgbClr val="176B5B"/>
      </a:hlink>
      <a:folHlink>
        <a:srgbClr val="56616B"/>
      </a:folHlink>
    </a:clrScheme>
    <a:fontScheme name="Shag vper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Шаг вперёд — предзащита и демо-день</dc:title>
  <dc:subject>PptxGenJS Presentation</dc:subject>
  <dc:creator>Команда «Шаг вперёд», Казанский ГМУ</dc:creator>
  <cp:lastModifiedBy>Команда «Шаг вперёд», Казанский ГМУ</cp:lastModifiedBy>
  <cp:revision>1</cp:revision>
  <dcterms:created xsi:type="dcterms:W3CDTF">2026-10-27T16:14:10Z</dcterms:created>
  <dcterms:modified xsi:type="dcterms:W3CDTF">2026-10-27T16:14:10Z</dcterms:modified>
</cp:coreProperties>
</file>